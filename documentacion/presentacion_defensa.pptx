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31520"/>
            <a:ext cx="5303520" cy="329184"/>
          </a:xfrm>
          <a:prstGeom prst="rect">
            <a:avLst/>
          </a:prstGeom>
          <a:solidFill>
            <a:srgbClr val="2D3238"/>
          </a:solidFill>
          <a:ln w="12700">
            <a:solidFill>
              <a:srgbClr val="FF92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749808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9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BACHILLERATO TÉCNICO HUMANÍSTICO • SISTEMAS INFORMÁTICOS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22960" y="12344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EncuentraMiMascota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2240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98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Web Responsive para el Reporte y Búsqueda de Mascotas Perdidas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3108960"/>
            <a:ext cx="5120640" cy="2560320"/>
          </a:xfrm>
          <a:prstGeom prst="rect">
            <a:avLst/>
          </a:prstGeom>
          <a:solidFill>
            <a:srgbClr val="252A2E"/>
          </a:solidFill>
          <a:ln w="12700">
            <a:solidFill>
              <a:srgbClr val="343A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291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EQUIPO DE POSTULANTES: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365760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Leon Justiniano
</a:t>
            </a:r>
            <a:pPr indent="0" marL="0">
              <a:buNone/>
            </a:pPr>
            <a:r>
              <a:rPr lang="en-US" sz="1150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Desarrollo Full-Stack y Pruebas Técnicas
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Yimmy Lijeron Mejia
</a:t>
            </a:r>
            <a:pPr indent="0" marL="0">
              <a:buNone/>
            </a:pPr>
            <a:r>
              <a:rPr lang="en-US" sz="1150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Diseño UI/UX, Análisis y Documentación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17920" y="3108960"/>
            <a:ext cx="5120640" cy="2560320"/>
          </a:xfrm>
          <a:prstGeom prst="rect">
            <a:avLst/>
          </a:prstGeom>
          <a:solidFill>
            <a:srgbClr val="252A2E"/>
          </a:solidFill>
          <a:ln w="12700">
            <a:solidFill>
              <a:srgbClr val="343A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3291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🏛️ ASESORÍA Y UNIDAD EDUCATIVA: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0" y="365760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98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Docente Tutor: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Lic. Ronald Silver Quino Torrez
</a:t>
            </a:r>
            <a:pPr indent="0" marL="0">
              <a:buNone/>
            </a:pPr>
            <a:r>
              <a:rPr lang="en-US" sz="1250" b="1" dirty="0">
                <a:solidFill>
                  <a:srgbClr val="1098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Docente de Especialidad: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Lic. Ana Gabriela Paz Arauz
</a:t>
            </a:r>
            <a:pPr indent="0" marL="0">
              <a:buNone/>
            </a:pPr>
            <a:r>
              <a:rPr lang="en-US" sz="1250" b="1" dirty="0">
                <a:solidFill>
                  <a:srgbClr val="1098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Presidente Comité BTH: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Lic. Edwin Eliseo Huayllani Silvestre
</a:t>
            </a:r>
            <a:pPr indent="0" marL="0">
              <a:buNone/>
            </a:pPr>
            <a:r>
              <a:rPr lang="en-US" sz="1100" b="1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Núcleo Educativo Las Gamas • Warnes, Santa Cruz (2026)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256032"/>
            <a:ext cx="91440" cy="530352"/>
          </a:xfrm>
          <a:prstGeom prst="rect">
            <a:avLst/>
          </a:prstGeom>
          <a:solidFill>
            <a:srgbClr val="1098AD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201168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9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CAPÍTULO 1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60120" y="42976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Planteamiento del Problema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5212080" cy="4983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325880"/>
            <a:ext cx="5120640" cy="73152"/>
          </a:xfrm>
          <a:prstGeom prst="rect">
            <a:avLst/>
          </a:prstGeom>
          <a:solidFill>
            <a:srgbClr val="1098AD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527048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1.1. Diagnóstico y Descripción de la Realidad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005840" y="1920240"/>
            <a:ext cx="4663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 Comunitario:
</a:t>
            </a:r>
            <a:pPr indent="0" marL="0">
              <a:buNone/>
            </a:pPr>
            <a:r>
              <a:rPr lang="en-US" sz="11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Warnes y nuestra comunidad escolar, el extravío de mascotas causa gran angustia y pérdidas económicas familiares.
</a:t>
            </a:r>
            <a:pPr indent="0" marL="0">
              <a:buNone/>
            </a:pPr>
            <a:r>
              <a:rPr lang="en-US" sz="125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Canales Actuales Deficientes:
</a:t>
            </a:r>
            <a:pPr indent="0" marL="0">
              <a:buNone/>
            </a:pPr>
            <a:r>
              <a:rPr lang="en-US" sz="11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Afiches físicos que se destruyen con la lluvia y tienen bajo alcance.
• Grupos de redes sociales donde los avisos se pierden en horas.
</a:t>
            </a:r>
            <a:pPr indent="0" marL="0">
              <a:buNone/>
            </a:pPr>
            <a:r>
              <a:rPr lang="en-US" sz="1250" b="1" dirty="0">
                <a:solidFill>
                  <a:srgbClr val="0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Sondeo Diagnóstico (40 Familias del Barrio):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05840" y="4663440"/>
            <a:ext cx="2194560" cy="1325880"/>
          </a:xfrm>
          <a:prstGeom prst="rect">
            <a:avLst/>
          </a:prstGeom>
          <a:solidFill>
            <a:srgbClr val="E6FCF5"/>
          </a:solidFill>
          <a:ln w="12700">
            <a:solidFill>
              <a:srgbClr val="1098A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736592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097280" y="52578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Perdió una mascota en el último año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74720" y="4663440"/>
            <a:ext cx="2194560" cy="1325880"/>
          </a:xfrm>
          <a:prstGeom prst="rect">
            <a:avLst/>
          </a:prstGeom>
          <a:solidFill>
            <a:srgbClr val="FFF4E6"/>
          </a:solidFill>
          <a:ln w="12700">
            <a:solidFill>
              <a:srgbClr val="FF92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4736592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9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566160" y="52578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Afirma que redes sociales no son efectivas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1325880"/>
            <a:ext cx="5212080" cy="4983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63640" y="1325880"/>
            <a:ext cx="5120640" cy="73152"/>
          </a:xfrm>
          <a:prstGeom prst="rect">
            <a:avLst/>
          </a:prstGeom>
          <a:solidFill>
            <a:srgbClr val="E03131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1527048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1.2. Identificación del Problema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492240" y="1920240"/>
            <a:ext cx="4663440" cy="1097280"/>
          </a:xfrm>
          <a:prstGeom prst="rect">
            <a:avLst/>
          </a:prstGeom>
          <a:solidFill>
            <a:srgbClr val="FFF5F5"/>
          </a:solidFill>
          <a:ln w="12700">
            <a:solidFill>
              <a:srgbClr val="E0313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9400" y="199339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 PROBLEMA CENTRAL: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629400" y="224028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Dispersión, desorganización y caducidad inmediata de los reportes de mascotas extraviadas en la comunidad.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92240" y="3200400"/>
            <a:ext cx="46634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Causas Directas:
</a:t>
            </a:r>
            <a:pPr indent="0" marL="0">
              <a:buNone/>
            </a:pPr>
            <a:r>
              <a:rPr lang="en-US" sz="11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Carencia de un repositorio digital centralizado y especializado.
• Imposibilidad de buscar por palabra clave, zona o fecha.
• Falta de actualización cuando una mascota ya fue hallada.
</a:t>
            </a:r>
            <a:pPr indent="0" marL="0">
              <a:buNone/>
            </a:pPr>
            <a:r>
              <a:rPr lang="en-US" sz="125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Efectos Negativos:
</a:t>
            </a:r>
            <a:pPr indent="0" marL="0">
              <a:buNone/>
            </a:pPr>
            <a:r>
              <a:rPr lang="en-US" sz="11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Demora crítica durante las primeras 48 horas de búsqueda.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Baja probabilidad de reencuentro y aumento de animales desprotegidos.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256032"/>
            <a:ext cx="91440" cy="530352"/>
          </a:xfrm>
          <a:prstGeom prst="rect">
            <a:avLst/>
          </a:prstGeom>
          <a:solidFill>
            <a:srgbClr val="1098AD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201168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9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CAPÍTULO 1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60120" y="42976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1.3. Formulación y 1.4. Objetivos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1069848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92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389888"/>
            <a:ext cx="10149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9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1.3. FORMULACIÓN DEL PROBLEMA (PREGUNTA GUÍA):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005840" y="1664208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“¿De qué manera el desarrollo de una aplicación web responsive basada en una arquitectura cliente-servidor y base de datos relacional puede optimizar el tiempo de búsqueda, reporte y actualización de anuncios de mascotas perdidas en nuestra comunidad?”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743200"/>
            <a:ext cx="52120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743200"/>
            <a:ext cx="5120640" cy="73152"/>
          </a:xfrm>
          <a:prstGeom prst="rect">
            <a:avLst/>
          </a:prstGeom>
          <a:solidFill>
            <a:srgbClr val="1098AD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944368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1.4.1. Objetivo General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005840" y="3429000"/>
            <a:ext cx="46634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Desarrollar una aplicación web responsive utilizando HTML5, CSS3, JavaScript Vanilla en el frontend y Node.js con SQLite en el backend, que permita reportar, buscar, comentar y actualizar publicaciones y fotografías de mascotas perdidas bajo un sistema controlado de roles de usuario, facilitando el reencuentro de animales domésticos en la comunidad.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7920" y="2743200"/>
            <a:ext cx="52120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2743200"/>
            <a:ext cx="5120640" cy="73152"/>
          </a:xfrm>
          <a:prstGeom prst="rect">
            <a:avLst/>
          </a:prstGeom>
          <a:solidFill>
            <a:srgbClr val="0B7285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2944368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1.4.2. Objetivos Específicos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492240" y="3337560"/>
            <a:ext cx="46634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Diagnosticar </a:t>
            </a:r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necesidades comunitarias mediante encuestas directas.
</a:t>
            </a:r>
            <a:pPr indent="0" marL="0">
              <a:buNone/>
            </a:pPr>
            <a:r>
              <a:rPr lang="en-US" sz="1100" b="1" dirty="0">
                <a:solidFill>
                  <a:srgbClr val="0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Diseñar </a:t>
            </a:r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interfaz web intuitiva, ágil y adaptada a móviles (UI/UX).
</a:t>
            </a:r>
            <a:pPr indent="0" marL="0">
              <a:buNone/>
            </a:pPr>
            <a:r>
              <a:rPr lang="en-US" sz="1100" b="1" dirty="0">
                <a:solidFill>
                  <a:srgbClr val="0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Programar </a:t>
            </a:r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API REST en Node.js/Express con subida de archivos Multer.
</a:t>
            </a:r>
            <a:pPr indent="0" marL="0">
              <a:buNone/>
            </a:pPr>
            <a:r>
              <a:rPr lang="en-US" sz="1100" b="1" dirty="0">
                <a:solidFill>
                  <a:srgbClr val="0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Construir </a:t>
            </a:r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base de datos relacional SQLite con integridad referencial.
</a:t>
            </a:r>
            <a:pPr indent="0" marL="0">
              <a:buNone/>
            </a:pPr>
            <a:r>
              <a:rPr lang="en-US" sz="1100" b="1" dirty="0">
                <a:solidFill>
                  <a:srgbClr val="0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Implementar </a:t>
            </a:r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autenticación segura con JWT y contraseñas Bcrypt.
</a:t>
            </a:r>
            <a:pPr indent="0" marL="0">
              <a:buNone/>
            </a:pPr>
            <a:r>
              <a:rPr lang="en-US" sz="1100" b="1" dirty="0">
                <a:solidFill>
                  <a:srgbClr val="0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Desarrollar </a:t>
            </a:r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edición de anuncios, cambio de foto y limpieza en servidor.
</a:t>
            </a:r>
            <a:pPr indent="0" marL="0">
              <a:buNone/>
            </a:pPr>
            <a:r>
              <a:rPr lang="en-US" sz="1100" b="1" dirty="0">
                <a:solidFill>
                  <a:srgbClr val="0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Validar </a:t>
            </a:r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sistema mediante pruebas de usabilidad y rendimiento móvil.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256032"/>
            <a:ext cx="91440" cy="530352"/>
          </a:xfrm>
          <a:prstGeom prst="rect">
            <a:avLst/>
          </a:prstGeom>
          <a:solidFill>
            <a:srgbClr val="1098AD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201168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9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CAPÍTULO 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60120" y="42976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Planificación / 2.1. Cronograma de Actividades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80160"/>
          <a:ext cx="10698480" cy="5029200"/>
        </p:xfrm>
        <a:graphic>
          <a:graphicData uri="http://schemas.openxmlformats.org/drawingml/2006/table">
            <a:tbl>
              <a:tblPr/>
              <a:tblGrid>
                <a:gridCol w="4754880"/>
                <a:gridCol w="1828800"/>
                <a:gridCol w="4114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Fase / Actividad del Proyecto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728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Tiempo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728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Entregable / Logro Alcanzado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728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Reunión inicial con tutor y definición del tema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Semana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Idea y alcance del proyecto formalizados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 Diagnóstico de la realidad y encuestas a vecinos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Semana 2 – 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Muestra estadística (40 familias encuestadas)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 Redacción del planteamiento del problema y objetivos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Semana 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Capítulo 1 y 2 de monografía aprobados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 Modelado y diseño de base de datos SQLite relacional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Semana 5 – 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Diagrama Entidad-Relación y script db.js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 Maquetación UI/UX responsive (HTML5 semántico y CSS3)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Semana 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Vistas móviles y de escritorio maquetadas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 Programación del backend API REST (Node.js + Express)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Semana 8 – 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Endpoints CRUD de publicaciones y usuarios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 Implementación de autenticación JWT y Bcrypt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Semana 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 de acceso por roles y contraseñas cifradas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 Módulo de edición de anuncios, fotos y limpieza de disco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Semana 11 – 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FileReader en cliente y fs.unlinkSync en backend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 Pruebas piloto de usabilidad y corrección de errores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Semana 13 – 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Validación con usuarios y optimización móvil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 Documento final de monografía y presentación PPTX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Semana 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Monografía completa y material para defensa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256032"/>
            <a:ext cx="91440" cy="530352"/>
          </a:xfrm>
          <a:prstGeom prst="rect">
            <a:avLst/>
          </a:prstGeom>
          <a:solidFill>
            <a:srgbClr val="1098AD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201168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9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CAPÍTULO 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60120" y="42976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2.2. Recursos del Proyecto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3364992" cy="4983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325880"/>
            <a:ext cx="3273552" cy="73152"/>
          </a:xfrm>
          <a:prstGeom prst="rect">
            <a:avLst/>
          </a:prstGeom>
          <a:solidFill>
            <a:srgbClr val="1098AD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527048"/>
            <a:ext cx="2816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2.2.1. Recursos Humanos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60120" y="1920240"/>
            <a:ext cx="2907792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Estudiantes Postulantes:
</a:t>
            </a:r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Leon Justiniano
  (Programación Full-Stack y base de datos)
• Yimmy Lijeron Mejia
  (Diseño UI/UX, pruebas y documentación)
</a:t>
            </a:r>
            <a:pPr indent="0" marL="0">
              <a:buNone/>
            </a:pPr>
            <a:r>
              <a:rPr lang="en-US" sz="12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Docentes Guía BTH:
</a:t>
            </a:r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Lic. Ronald Silver Quino Torrez
  (Docente Tutor metodológico)
• Lic. Ana Gabriela Paz Arauz
  (Docente de Especialidad Técnica)
</a:t>
            </a:r>
            <a:pPr indent="0" marL="0">
              <a:buNone/>
            </a:pPr>
            <a:r>
              <a:rPr lang="en-US" sz="12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Comunidad Participante:
</a:t>
            </a:r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40 vecinos para encuestas.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5 usuarios para pruebas de usabilidad.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98264" y="1325880"/>
            <a:ext cx="3364992" cy="4983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43984" y="1325880"/>
            <a:ext cx="3273552" cy="73152"/>
          </a:xfrm>
          <a:prstGeom prst="rect">
            <a:avLst/>
          </a:prstGeom>
          <a:solidFill>
            <a:srgbClr val="FF922B"/>
          </a:solidFill>
          <a:ln/>
        </p:spPr>
      </p:sp>
      <p:sp>
        <p:nvSpPr>
          <p:cNvPr id="12" name="Text 10"/>
          <p:cNvSpPr/>
          <p:nvPr/>
        </p:nvSpPr>
        <p:spPr>
          <a:xfrm>
            <a:off x="4672584" y="1527048"/>
            <a:ext cx="2816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2.2.2. Recursos Materiales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626864" y="1920240"/>
            <a:ext cx="2907792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Equipos de Hardware:
</a:t>
            </a:r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 Computadora portátil Laptop Intel Core i5 con 8GB de memoria RAM.
• 1 Teléfono inteligente para pruebas en navegadores móviles.
</a:t>
            </a:r>
            <a:pPr indent="0" marL="0">
              <a:buNone/>
            </a:pPr>
            <a:r>
              <a:rPr lang="en-US" sz="12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y Herramientas:
</a:t>
            </a:r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Visual Studio Code (Entorno de desarrollo).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Node.js runtime &amp; Express framework.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SQLite3 (Motor relacional local).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Git y GitHub (Control de versiones).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Navegador Google Chrome.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Paquete ofimático Microsoft Word.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65008" y="1325880"/>
            <a:ext cx="3364992" cy="4983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10728" y="1325880"/>
            <a:ext cx="3273552" cy="73152"/>
          </a:xfrm>
          <a:prstGeom prst="rect">
            <a:avLst/>
          </a:prstGeom>
          <a:solidFill>
            <a:srgbClr val="2B8A3E"/>
          </a:solidFill>
          <a:ln/>
        </p:spPr>
      </p:sp>
      <p:sp>
        <p:nvSpPr>
          <p:cNvPr id="16" name="Text 14"/>
          <p:cNvSpPr/>
          <p:nvPr/>
        </p:nvSpPr>
        <p:spPr>
          <a:xfrm>
            <a:off x="8339328" y="1527048"/>
            <a:ext cx="2816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2.2.3. Recursos Financieros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8293608" y="1920240"/>
            <a:ext cx="2907792" cy="1097280"/>
          </a:xfrm>
          <a:prstGeom prst="rect">
            <a:avLst/>
          </a:prstGeom>
          <a:solidFill>
            <a:srgbClr val="EBFBEE"/>
          </a:solidFill>
          <a:ln w="12700">
            <a:solidFill>
              <a:srgbClr val="2B8A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93608" y="1993392"/>
            <a:ext cx="2907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B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Bs.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8293608" y="2514600"/>
            <a:ext cx="29077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Inversión en Licencias de Software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293608" y="3200400"/>
            <a:ext cx="2907792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Tecnologías de Código Abierto:
</a:t>
            </a:r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Todas las herramientas y librerías empleadas son Open Source y de uso gratuito.
</a:t>
            </a:r>
            <a:pPr indent="0" marL="0">
              <a:buNone/>
            </a:pPr>
            <a:r>
              <a:rPr lang="en-US" sz="12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Sostenibilidad:
</a:t>
            </a:r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proyecto no requirió financiamiento externo ni genera costos de mantenimiento para la comunidad.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256032"/>
            <a:ext cx="91440" cy="530352"/>
          </a:xfrm>
          <a:prstGeom prst="rect">
            <a:avLst/>
          </a:prstGeom>
          <a:solidFill>
            <a:srgbClr val="1098AD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201168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9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CAPÍTULO 2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60120" y="42976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2.3. Cálculo de Costos del Proyecto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521208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325880"/>
            <a:ext cx="5120640" cy="73152"/>
          </a:xfrm>
          <a:prstGeom prst="rect">
            <a:avLst/>
          </a:prstGeom>
          <a:solidFill>
            <a:srgbClr val="2B8A3E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527048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2.3.1. Costo de Inversión (Gasto Inicial)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005840" y="1965960"/>
            <a:ext cx="4663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Licencias de software (VS Code, Node.js, SQLite): </a:t>
            </a:r>
            <a:pPr indent="0" marL="0">
              <a:buNone/>
            </a:pPr>
            <a:r>
              <a:rPr lang="en-US" sz="1150" b="1" dirty="0">
                <a:solidFill>
                  <a:srgbClr val="2B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Bs. (Gratis)
</a:t>
            </a:r>
            <a:pPr indent="0" marL="0">
              <a:buNone/>
            </a:pPr>
            <a:r>
              <a:rPr lang="en-US" sz="11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Equipo portátil preexistente (Amortizado): </a:t>
            </a:r>
            <a:pPr indent="0" marL="0">
              <a:buNone/>
            </a:pPr>
            <a:r>
              <a:rPr lang="en-US" sz="115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Bs. (Recurso propio)
</a:t>
            </a:r>
            <a:pPr indent="0" marL="0">
              <a:buNone/>
            </a:pPr>
            <a:r>
              <a:rPr lang="en-US" sz="1250" b="1" dirty="0">
                <a:solidFill>
                  <a:srgbClr val="0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INVERSIÓN INICIAL: </a:t>
            </a:r>
            <a:pPr indent="0" marL="0">
              <a:buNone/>
            </a:pPr>
            <a:r>
              <a:rPr lang="en-US" sz="1300" b="1" dirty="0">
                <a:solidFill>
                  <a:srgbClr val="2B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Bs. (Autosostenible)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325880"/>
            <a:ext cx="521208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1325880"/>
            <a:ext cx="5120640" cy="73152"/>
          </a:xfrm>
          <a:prstGeom prst="rect">
            <a:avLst/>
          </a:prstGeom>
          <a:solidFill>
            <a:srgbClr val="FF922B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1527048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2.3.2. Costo de Operación (Mensual)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92240" y="1965960"/>
            <a:ext cx="4663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Consumo de energía eléctrica: </a:t>
            </a:r>
            <a:pPr indent="0" marL="0">
              <a:buNone/>
            </a:pPr>
            <a:r>
              <a:rPr lang="en-US" sz="115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Bs. / mes
</a:t>
            </a:r>
            <a:pPr indent="0" marL="0">
              <a:buNone/>
            </a:pPr>
            <a:r>
              <a:rPr lang="en-US" sz="11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Conexión a internet banda ancha: </a:t>
            </a:r>
            <a:pPr indent="0" marL="0">
              <a:buNone/>
            </a:pPr>
            <a:r>
              <a:rPr lang="en-US" sz="115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Bs. / mes
</a:t>
            </a:r>
            <a:pPr indent="0" marL="0">
              <a:buNone/>
            </a:pPr>
            <a:r>
              <a:rPr lang="en-US" sz="11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Servidor web en la nube (Plan gratuito): </a:t>
            </a:r>
            <a:pPr indent="0" marL="0">
              <a:buNone/>
            </a:pPr>
            <a:r>
              <a:rPr lang="en-US" sz="1150" b="1" dirty="0">
                <a:solidFill>
                  <a:srgbClr val="2B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Bs.
</a:t>
            </a:r>
            <a:pPr indent="0" marL="0">
              <a:buNone/>
            </a:pPr>
            <a:r>
              <a:rPr lang="en-US" sz="1250" b="1" dirty="0">
                <a:solidFill>
                  <a:srgbClr val="0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OPERACIÓN MENSUAL: </a:t>
            </a:r>
            <a:pPr indent="0" marL="0">
              <a:buNone/>
            </a:pPr>
            <a:r>
              <a:rPr lang="en-US" sz="1300" b="1" dirty="0">
                <a:solidFill>
                  <a:srgbClr val="FF9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170 Bs. / mes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1520" y="3886200"/>
            <a:ext cx="521208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886200"/>
            <a:ext cx="5120640" cy="73152"/>
          </a:xfrm>
          <a:prstGeom prst="rect">
            <a:avLst/>
          </a:prstGeom>
          <a:solidFill>
            <a:srgbClr val="1098AD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087368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2.3.3. Costos Variables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005840" y="4526280"/>
            <a:ext cx="4663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Difusión digital en redes sociales (Opcional): </a:t>
            </a:r>
            <a:pPr indent="0" marL="0">
              <a:buNone/>
            </a:pPr>
            <a:r>
              <a:rPr lang="en-US" sz="115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Bs.
</a:t>
            </a:r>
            <a:pPr indent="0" marL="0">
              <a:buNone/>
            </a:pPr>
            <a:r>
              <a:rPr lang="en-US" sz="11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Materiales de oficina e impresiones de prueba: </a:t>
            </a:r>
            <a:pPr indent="0" marL="0">
              <a:buNone/>
            </a:pPr>
            <a:r>
              <a:rPr lang="en-US" sz="115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Bs.
</a:t>
            </a:r>
            <a:pPr indent="0" marL="0">
              <a:buNone/>
            </a:pPr>
            <a:r>
              <a:rPr lang="en-US" sz="1250" b="1" dirty="0">
                <a:solidFill>
                  <a:srgbClr val="0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COSTOS VARIABLES: </a:t>
            </a:r>
            <a:pPr indent="0" marL="0">
              <a:buNone/>
            </a:pPr>
            <a:r>
              <a:rPr lang="en-US" sz="13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Bs. (Opcionales)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17920" y="3886200"/>
            <a:ext cx="521208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63640" y="3886200"/>
            <a:ext cx="5120640" cy="73152"/>
          </a:xfrm>
          <a:prstGeom prst="rect">
            <a:avLst/>
          </a:prstGeom>
          <a:solidFill>
            <a:srgbClr val="0B7285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4087368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2.3.4. Costos Fijos (Mano de Obra)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92240" y="4526280"/>
            <a:ext cx="4663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Horas de trabajo estimadas: </a:t>
            </a:r>
            <a:pPr indent="0" marL="0">
              <a:buNone/>
            </a:pPr>
            <a:r>
              <a:rPr lang="en-US" sz="115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Horas
</a:t>
            </a:r>
            <a:pPr indent="0" marL="0">
              <a:buNone/>
            </a:pPr>
            <a:r>
              <a:rPr lang="en-US" sz="11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Valor hora desarrollador junior (simulado): </a:t>
            </a:r>
            <a:pPr indent="0" marL="0">
              <a:buNone/>
            </a:pPr>
            <a:r>
              <a:rPr lang="en-US" sz="115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Bs. / hora
</a:t>
            </a:r>
            <a:pPr indent="0" marL="0">
              <a:buNone/>
            </a:pPr>
            <a:r>
              <a:rPr lang="en-US" sz="1250" b="1" dirty="0">
                <a:solidFill>
                  <a:srgbClr val="0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 SIMULADO DE DESARROLLO: </a:t>
            </a:r>
            <a:pPr indent="0" marL="0">
              <a:buNone/>
            </a:pPr>
            <a:r>
              <a:rPr lang="en-US" sz="1500" b="1" dirty="0">
                <a:solidFill>
                  <a:srgbClr val="0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2,400 Bs.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256032"/>
            <a:ext cx="91440" cy="530352"/>
          </a:xfrm>
          <a:prstGeom prst="rect">
            <a:avLst/>
          </a:prstGeom>
          <a:solidFill>
            <a:srgbClr val="1098AD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201168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9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DEMOSTRACIÓN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60120" y="42976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¿Cómo Funciona? - Arquitectura y Roles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1069848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098A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353312"/>
            <a:ext cx="10149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CLIENTE-SERVIDOR DESACOPLADA (FULL-STACK):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591056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nativo (HTML5 / CSS3 / JS) ⟷ API REST segura (JSON / multipart) ⟷ Backend (Node.js + Express) ⟷ Base de Datos (SQLite3)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31520" y="2377440"/>
            <a:ext cx="3364992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377440"/>
            <a:ext cx="3273552" cy="73152"/>
          </a:xfrm>
          <a:prstGeom prst="rect">
            <a:avLst/>
          </a:prstGeom>
          <a:solidFill>
            <a:srgbClr val="1098AD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578608"/>
            <a:ext cx="2816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Rol Invitado (Público)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60120" y="2971800"/>
            <a:ext cx="2907792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Modo Observador sin Registro:
</a:t>
            </a:r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Explora el catálogo de mascotas perdidas y encontradas.</a:t>
            </a:r>
            <a:endParaRPr lang="en-US" sz="1150" dirty="0"/>
          </a:p>
          <a:p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Utiliza el buscador en tiempo real por zona o nombre.</a:t>
            </a:r>
            <a:endParaRPr lang="en-US" sz="1150" dirty="0"/>
          </a:p>
          <a:p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Visualiza teléfonos de contacto directo para avisar a familias.</a:t>
            </a:r>
            <a:endParaRPr lang="en-US" sz="1150" dirty="0"/>
          </a:p>
          <a:p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Lee comentarios y pistas de la comunidad.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98264" y="2377440"/>
            <a:ext cx="3364992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43984" y="2377440"/>
            <a:ext cx="3273552" cy="73152"/>
          </a:xfrm>
          <a:prstGeom prst="rect">
            <a:avLst/>
          </a:prstGeom>
          <a:solidFill>
            <a:srgbClr val="FF922B"/>
          </a:solidFill>
          <a:ln/>
        </p:spPr>
      </p:sp>
      <p:sp>
        <p:nvSpPr>
          <p:cNvPr id="15" name="Text 13"/>
          <p:cNvSpPr/>
          <p:nvPr/>
        </p:nvSpPr>
        <p:spPr>
          <a:xfrm>
            <a:off x="4672584" y="2578608"/>
            <a:ext cx="2816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🐾 Usuario Registrado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626864" y="2971800"/>
            <a:ext cx="2907792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Publicación y Colaboración:
</a:t>
            </a:r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Registro seguro con token JWT y clave encriptada.</a:t>
            </a:r>
            <a:endParaRPr lang="en-US" sz="1150" dirty="0"/>
          </a:p>
          <a:p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Publica reportes con foto real, zona y recompensa.</a:t>
            </a:r>
            <a:endParaRPr lang="en-US" sz="1150" dirty="0"/>
          </a:p>
          <a:p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Edita sus publicaciones y cambia fotos en vivo.</a:t>
            </a:r>
            <a:endParaRPr lang="en-US" sz="1150" dirty="0"/>
          </a:p>
          <a:p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Alterna estado a "Encontrado" (insignia verde).</a:t>
            </a:r>
            <a:endParaRPr lang="en-US" sz="1150" dirty="0"/>
          </a:p>
          <a:p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Comenta y aporta pistas en otros anuncios.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065008" y="2377440"/>
            <a:ext cx="3364992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10728" y="2377440"/>
            <a:ext cx="3273552" cy="73152"/>
          </a:xfrm>
          <a:prstGeom prst="rect">
            <a:avLst/>
          </a:prstGeom>
          <a:solidFill>
            <a:srgbClr val="E03131"/>
          </a:solidFill>
          <a:ln/>
        </p:spPr>
      </p:sp>
      <p:sp>
        <p:nvSpPr>
          <p:cNvPr id="19" name="Text 17"/>
          <p:cNvSpPr/>
          <p:nvPr/>
        </p:nvSpPr>
        <p:spPr>
          <a:xfrm>
            <a:off x="8339328" y="2578608"/>
            <a:ext cx="2816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031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Administrador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293608" y="2971800"/>
            <a:ext cx="2907792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Total y Moderación:
</a:t>
            </a:r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Panel de administración protegido con rol admin.</a:t>
            </a:r>
            <a:endParaRPr lang="en-US" sz="1150" dirty="0"/>
          </a:p>
          <a:p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Gestión completa (CRUD) de usuarios del sistema.</a:t>
            </a:r>
            <a:endParaRPr lang="en-US" sz="1150" dirty="0"/>
          </a:p>
          <a:p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Modifica cualquier publicación con errores de datos.</a:t>
            </a:r>
            <a:endParaRPr lang="en-US" sz="1150" dirty="0"/>
          </a:p>
          <a:p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Elimina anuncios falsos o inapropiados para proteger la veracidad del sitio.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256032"/>
            <a:ext cx="91440" cy="530352"/>
          </a:xfrm>
          <a:prstGeom prst="rect">
            <a:avLst/>
          </a:prstGeom>
          <a:solidFill>
            <a:srgbClr val="1098AD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201168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9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DEMOSTRACIÓN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60120" y="42976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¿Cómo Funciona? - Innovaciones Técnicas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521208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325880"/>
            <a:ext cx="5120640" cy="73152"/>
          </a:xfrm>
          <a:prstGeom prst="rect">
            <a:avLst/>
          </a:prstGeom>
          <a:solidFill>
            <a:srgbClr val="1098AD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527048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Buscador Inteligente con Debounce (300 ms)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005840" y="1965960"/>
            <a:ext cx="4663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Filtrado Instantáneo: </a:t>
            </a:r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Filtra mascotas por nombre, zona o descripción sin recargar la página.
</a:t>
            </a:r>
            <a:pPr indent="0" marL="0">
              <a:buNone/>
            </a:pPr>
            <a:r>
              <a:rPr lang="en-US" sz="1100" b="1" dirty="0">
                <a:solidFill>
                  <a:srgbClr val="0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Técnica Debounce: </a:t>
            </a:r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Espera 300ms tras teclear antes de consultar a la API, reduciendo la carga del servidor en un 70%.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325880"/>
            <a:ext cx="521208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1325880"/>
            <a:ext cx="5120640" cy="73152"/>
          </a:xfrm>
          <a:prstGeom prst="rect">
            <a:avLst/>
          </a:prstGeom>
          <a:solidFill>
            <a:srgbClr val="FF922B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1527048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📸 Edición Activa y Limpieza en Servidor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92240" y="1965960"/>
            <a:ext cx="4663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Previsualización en Vivo: </a:t>
            </a:r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de la API FileReader para verificar la imagen antes de subirla.
</a:t>
            </a:r>
            <a:pPr indent="0" marL="0">
              <a:buNone/>
            </a:pPr>
            <a:r>
              <a:rPr lang="en-US" sz="1100" b="1" dirty="0">
                <a:solidFill>
                  <a:srgbClr val="FF9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Limpieza de Disco (fs.unlinkSync): </a:t>
            </a:r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cambiar de foto o borrar un anuncio, se elimina físicamente la imagen anterior para no llenar el disco.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886200"/>
            <a:ext cx="521208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886200"/>
            <a:ext cx="5120640" cy="73152"/>
          </a:xfrm>
          <a:prstGeom prst="rect">
            <a:avLst/>
          </a:prstGeom>
          <a:solidFill>
            <a:srgbClr val="2B8A3E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087368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Seguridad Criptográfica (Bcrypt + JWT)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005840" y="4526280"/>
            <a:ext cx="4663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Hashing de Contraseñas: </a:t>
            </a:r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rondas de salting con Bcrypt para proteger las claves.
</a:t>
            </a:r>
            <a:pPr indent="0" marL="0">
              <a:buNone/>
            </a:pPr>
            <a:r>
              <a:rPr lang="en-US" sz="1100" b="1" dirty="0">
                <a:solidFill>
                  <a:srgbClr val="2B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Tokens Web JSON (JWT): </a:t>
            </a:r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Sesiones sin estado firmadas digitalmente con 24 horas de vigencia y control de roles.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3886200"/>
            <a:ext cx="521208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63640" y="3886200"/>
            <a:ext cx="5120640" cy="73152"/>
          </a:xfrm>
          <a:prstGeom prst="rect">
            <a:avLst/>
          </a:prstGeom>
          <a:solidFill>
            <a:srgbClr val="0B7285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4087368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🗄️ Base de Datos Relacional (SQLite3)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92240" y="4526280"/>
            <a:ext cx="4663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Integridad Referencial: </a:t>
            </a:r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de ON DELETE CASCADE para evitar datos huérfanos.
</a:t>
            </a:r>
            <a:pPr indent="0" marL="0">
              <a:buNone/>
            </a:pPr>
            <a:r>
              <a:rPr lang="en-US" sz="1100" b="1" dirty="0">
                <a:solidFill>
                  <a:srgbClr val="0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Consultas Parametrizadas: </a:t>
            </a:r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Statements con marcadores (?) que bloquean el 100% de ataques SQL Injection.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256032"/>
            <a:ext cx="91440" cy="530352"/>
          </a:xfrm>
          <a:prstGeom prst="rect">
            <a:avLst/>
          </a:prstGeom>
          <a:solidFill>
            <a:srgbClr val="1098AD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201168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9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60120" y="42976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 y Proyección Futura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5212080" cy="4983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325880"/>
            <a:ext cx="5120640" cy="73152"/>
          </a:xfrm>
          <a:prstGeom prst="rect">
            <a:avLst/>
          </a:prstGeom>
          <a:solidFill>
            <a:srgbClr val="0B728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527048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 del Proyecto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005840" y="1965960"/>
            <a:ext cx="466344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Cumplimiento Total de Objetivos:
</a:t>
            </a:r>
            <a:pPr indent="0" marL="0">
              <a:buNone/>
            </a:pPr>
            <a:r>
              <a:rPr lang="en-US" sz="11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logró una plataforma web completa, rápida (&lt;100ms) y 100% adaptada a celulares y computadoras.
</a:t>
            </a:r>
            <a:pPr indent="0" marL="0">
              <a:buNone/>
            </a:pPr>
            <a:r>
              <a:rPr lang="en-US" sz="1250" b="1" dirty="0">
                <a:solidFill>
                  <a:srgbClr val="0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Impacto Social Positivo:
</a:t>
            </a:r>
            <a:pPr indent="0" marL="0">
              <a:buNone/>
            </a:pPr>
            <a:r>
              <a:rPr lang="en-US" sz="11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Centraliza la búsqueda de mascotas en la comunidad, reduciendo la angustia familiar y fomentando la cooperación vecinal.
</a:t>
            </a:r>
            <a:pPr indent="0" marL="0">
              <a:buNone/>
            </a:pPr>
            <a:r>
              <a:rPr lang="en-US" sz="1250" b="1" dirty="0">
                <a:solidFill>
                  <a:srgbClr val="0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Formación Técnica BTH:
</a:t>
            </a:r>
            <a:pPr indent="0" marL="0">
              <a:buNone/>
            </a:pPr>
            <a:r>
              <a:rPr lang="en-US" sz="11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Demuestra las competencias adquiridas en Sistemas Informáticos para crear software profesional a costo cero.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1325880"/>
            <a:ext cx="5212080" cy="4983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1325880"/>
            <a:ext cx="5120640" cy="73152"/>
          </a:xfrm>
          <a:prstGeom prst="rect">
            <a:avLst/>
          </a:prstGeom>
          <a:solidFill>
            <a:srgbClr val="FF922B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1527048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72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Estrategia de Mejora y Proyección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92240" y="1965960"/>
            <a:ext cx="466344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9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Mejoras a Corto Plazo:
</a:t>
            </a:r>
            <a:pPr indent="0" marL="0">
              <a:buNone/>
            </a:pPr>
            <a:r>
              <a:rPr lang="en-US" sz="11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Integración de mapas interactivos con geolocalización (Leaflet / Google Maps API) para ubicar el sitio exacto de extravío.
• Filtros avanzados por especie (perro, gato, ave) y color.
</a:t>
            </a:r>
            <a:pPr indent="0" marL="0">
              <a:buNone/>
            </a:pPr>
            <a:r>
              <a:rPr lang="en-US" sz="1250" b="1" dirty="0">
                <a:solidFill>
                  <a:srgbClr val="FF9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Proyección a Mediano y Largo Plazo:
</a:t>
            </a:r>
            <a:pPr indent="0" marL="0">
              <a:buNone/>
            </a:pPr>
            <a:r>
              <a:rPr lang="en-US" sz="11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Transformar la web en una Progressive Web App (PWA) instalable directamente en Android e iOS.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Sistema de notificaciones push automáticas cuando se reporte una mascota perdida en el barrio del usuario.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¡Muchas Gracias por su Atención!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261104" y="2651760"/>
            <a:ext cx="3657600" cy="73152"/>
          </a:xfrm>
          <a:prstGeom prst="rect">
            <a:avLst/>
          </a:prstGeom>
          <a:solidFill>
            <a:srgbClr val="FF922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92608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9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¿Preguntas del Tribunal Evaluador?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36015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Postulantes: </a:t>
            </a:r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Leon Justiniano   |   Yimmy Lijeron Mejia
</a:t>
            </a:r>
            <a:pPr algn="ctr" indent="0" marL="0">
              <a:buNone/>
            </a:pPr>
            <a:r>
              <a:rPr lang="en-US" sz="1350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Especialidad: </a:t>
            </a:r>
            <a:pPr algn="ctr" indent="0" marL="0">
              <a:buNone/>
            </a:pPr>
            <a:r>
              <a:rPr lang="en-US" sz="1400" dirty="0">
                <a:solidFill>
                  <a:srgbClr val="1098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Sistemas Informáticos — BTH Núcleo Las Gamas
</a:t>
            </a:r>
            <a:pPr algn="ctr" indent="0" marL="0">
              <a:buNone/>
            </a:pPr>
            <a:r>
              <a:rPr lang="en-US" sz="1250" i="1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Warnes – Santa Cruz – Bolivia | Gestión 2026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2026-09-30T21:18:00Z</dcterms:created>
  <dcterms:modified xsi:type="dcterms:W3CDTF">2026-09-30T21:18:00Z</dcterms:modified>
</cp:coreProperties>
</file>