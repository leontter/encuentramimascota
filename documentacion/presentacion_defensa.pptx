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5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922B"/>
                </a:solidFill>
                <a:latin typeface="Arial"/>
              </a:defRPr>
            </a:pPr>
            <a:r>
              <a:t>PROYECTO DE INNOVACIÓN TECNOLÓGICA</a:t>
            </a:r>
          </a:p>
          <a:p>
            <a:pPr>
              <a:spcAft>
                <a:spcPts val="2000"/>
              </a:spcAft>
              <a:defRPr sz="5400" b="1">
                <a:solidFill>
                  <a:srgbClr val="FFFFFF"/>
                </a:solidFill>
                <a:latin typeface="Arial"/>
              </a:defRPr>
            </a:pPr>
            <a:r>
              <a:t>EncuentraMiMascota</a:t>
            </a:r>
          </a:p>
          <a:p>
            <a:pPr>
              <a:spcAft>
                <a:spcPts val="4000"/>
              </a:spcAft>
              <a:defRPr sz="2200">
                <a:solidFill>
                  <a:srgbClr val="1098AD"/>
                </a:solidFill>
                <a:latin typeface="Arial"/>
              </a:defRPr>
            </a:pPr>
            <a:r>
              <a:t>Plataforma Web Responsive para el Reporte y Búsqueda de Mascotas Perdidas</a:t>
            </a:r>
          </a:p>
          <a:p>
            <a:pPr>
              <a:defRPr sz="1600">
                <a:solidFill>
                  <a:srgbClr val="FFFFFF"/>
                </a:solidFill>
                <a:latin typeface="Arial"/>
              </a:defRPr>
            </a:pPr>
            <a:r>
              <a:t>Estudiante: [Tu Nombre Completo]</a:t>
            </a:r>
            <a:br/>
            <a:r>
              <a:t>Curso: 6to de Secundaria BTH - Sistemas Informáticos</a:t>
            </a:r>
            <a:br/>
            <a:r>
              <a:t>Unidad Educativa: [Nombre de tu Colegio]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98AD"/>
                </a:solidFill>
                <a:latin typeface="Arial"/>
              </a:defRPr>
            </a:pPr>
            <a:r>
              <a:t>Introducción y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400" b="1">
                <a:solidFill>
                  <a:srgbClr val="212529"/>
                </a:solidFill>
                <a:latin typeface="Arial"/>
              </a:defRPr>
            </a:pPr>
            <a:r>
              <a:t>La Realidad en Nuestra Comunidad:</a:t>
            </a:r>
          </a:p>
          <a:p>
            <a:pPr>
              <a:spcAft>
                <a:spcPts val="1000"/>
              </a:spcAft>
              <a:defRPr sz="2000">
                <a:solidFill>
                  <a:srgbClr val="868E96"/>
                </a:solidFill>
                <a:latin typeface="Arial"/>
              </a:defRPr>
            </a:pPr>
            <a:r>
              <a:t>• El extravío de mascotas genera alta angustia y dispersión de la información.</a:t>
            </a:r>
          </a:p>
          <a:p>
            <a:pPr>
              <a:spcAft>
                <a:spcPts val="1000"/>
              </a:spcAft>
              <a:defRPr sz="2000">
                <a:solidFill>
                  <a:srgbClr val="868E96"/>
                </a:solidFill>
                <a:latin typeface="Arial"/>
              </a:defRPr>
            </a:pPr>
            <a:r>
              <a:t>• Los métodos tradicionales (afiches, publicaciones sueltas en redes sociales) tienen bajo alcance y expiran rápidamente sin control.</a:t>
            </a:r>
          </a:p>
          <a:p>
            <a:pPr>
              <a:spcAft>
                <a:spcPts val="1000"/>
              </a:spcAft>
              <a:defRPr sz="2000">
                <a:solidFill>
                  <a:srgbClr val="868E96"/>
                </a:solidFill>
                <a:latin typeface="Arial"/>
              </a:defRPr>
            </a:pPr>
            <a:r>
              <a:t>• Según nuestro sondeo local, el 80% considera ineficiente el uso de grupos genéricos en Facebook o WhatsApp para búsquedas rápidas.</a:t>
            </a:r>
          </a:p>
          <a:p>
            <a:pPr>
              <a:spcAft>
                <a:spcPts val="1000"/>
              </a:spcAft>
              <a:defRPr sz="2000">
                <a:solidFill>
                  <a:srgbClr val="868E96"/>
                </a:solidFill>
                <a:latin typeface="Arial"/>
              </a:defRPr>
            </a:pPr>
            <a:r>
              <a:t>• Solución Propuesta: Centralizar los reportes en un sitio web optimizado, interactivo y con filtros de búsqueda instantáneos.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98AD"/>
                </a:solidFill>
                <a:latin typeface="Arial"/>
              </a:defRPr>
            </a:pPr>
            <a:r>
              <a:t>Formulación y 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FF922B"/>
                </a:solidFill>
                <a:latin typeface="Arial"/>
              </a:defRPr>
            </a:pPr>
            <a:r>
              <a:t>¿Pregunta Clave del Problema?:</a:t>
            </a:r>
          </a:p>
          <a:p>
            <a:pPr>
              <a:spcAft>
                <a:spcPts val="2500"/>
              </a:spcAft>
              <a:defRPr sz="1800" i="1">
                <a:solidFill>
                  <a:srgbClr val="212529"/>
                </a:solidFill>
                <a:latin typeface="Arial"/>
              </a:defRPr>
            </a:pPr>
            <a:r>
              <a:t>¿De qué manera el desarrollo de una aplicación web responsive basada en una arquitectura cliente-servidor y base de datos relacional puede optimizar el tiempo de búsqueda y reporte de mascotas perdidas en nuestra comunidad?</a:t>
            </a:r>
          </a:p>
          <a:p>
            <a:pPr>
              <a:spcAft>
                <a:spcPts val="500"/>
              </a:spcAft>
              <a:defRPr sz="2200" b="1">
                <a:solidFill>
                  <a:srgbClr val="1098AD"/>
                </a:solidFill>
                <a:latin typeface="Arial"/>
              </a:defRPr>
            </a:pPr>
            <a:r>
              <a:t>Objetivo General:</a:t>
            </a:r>
          </a:p>
          <a:p>
            <a:pPr>
              <a:spcAft>
                <a:spcPts val="1500"/>
              </a:spcAft>
              <a:defRPr sz="1800">
                <a:solidFill>
                  <a:srgbClr val="868E96"/>
                </a:solidFill>
                <a:latin typeface="Arial"/>
              </a:defRPr>
            </a:pPr>
            <a:r>
              <a:t>Desarrollar una aplicación web responsive utilizando HTML5, CSS3, JavaScript Vanilla en el frontend y Node.js con SQLite en el backend para reportar, buscar y comentar mascotas perdidas.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98AD"/>
                </a:solidFill>
                <a:latin typeface="Arial"/>
              </a:defRPr>
            </a:pPr>
            <a:r>
              <a:t>Marco Referencial y Tecnológico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212529"/>
                </a:solidFill>
                <a:latin typeface="Arial"/>
              </a:defRPr>
            </a:pPr>
            <a:r>
              <a:t>Frontend: HTML5, CSS3 y JS Vanilla</a:t>
            </a:r>
          </a:p>
          <a:p>
            <a:pPr>
              <a:spcAft>
                <a:spcPts val="1500"/>
              </a:spcAft>
              <a:defRPr sz="1600">
                <a:solidFill>
                  <a:srgbClr val="868E96"/>
                </a:solidFill>
                <a:latin typeface="Arial"/>
              </a:defRPr>
            </a:pPr>
            <a:r>
              <a:t>Código nativo, sin frameworks complejos, optimizado para celulares (Responsive Design) usando CSS Grid y Flexbox.</a:t>
            </a:r>
          </a:p>
          <a:p>
            <a:pPr>
              <a:defRPr sz="2000" b="1">
                <a:solidFill>
                  <a:srgbClr val="212529"/>
                </a:solidFill>
                <a:latin typeface="Arial"/>
              </a:defRPr>
            </a:pPr>
            <a:r>
              <a:t>Backend: Node.js con Express</a:t>
            </a:r>
          </a:p>
          <a:p>
            <a:pPr>
              <a:spcAft>
                <a:spcPts val="1500"/>
              </a:spcAft>
              <a:defRPr sz="1600">
                <a:solidFill>
                  <a:srgbClr val="868E96"/>
                </a:solidFill>
                <a:latin typeface="Arial"/>
              </a:defRPr>
            </a:pPr>
            <a:r>
              <a:t>Servidor ligero encargado de exponer una API REST segura para comunicarse con el cliente.</a:t>
            </a:r>
          </a:p>
          <a:p>
            <a:pPr>
              <a:defRPr sz="2000" b="1">
                <a:solidFill>
                  <a:srgbClr val="212529"/>
                </a:solidFill>
                <a:latin typeface="Arial"/>
              </a:defRPr>
            </a:pPr>
            <a:r>
              <a:t>Base de Datos: SQLite</a:t>
            </a:r>
          </a:p>
          <a:p>
            <a:pPr>
              <a:spcAft>
                <a:spcPts val="1500"/>
              </a:spcAft>
              <a:defRPr sz="1600">
                <a:solidFill>
                  <a:srgbClr val="868E96"/>
                </a:solidFill>
                <a:latin typeface="Arial"/>
              </a:defRPr>
            </a:pPr>
            <a:r>
              <a:t>Motor de base de datos relacional liviano autocontenido en un solo archivo local ('mascotas.db').</a:t>
            </a:r>
          </a:p>
          <a:p>
            <a:pPr>
              <a:defRPr sz="2000" b="1">
                <a:solidFill>
                  <a:srgbClr val="212529"/>
                </a:solidFill>
                <a:latin typeface="Arial"/>
              </a:defRPr>
            </a:pPr>
            <a:r>
              <a:t>Seguridad: Encriptación con Bcrypt y JWT</a:t>
            </a:r>
          </a:p>
          <a:p>
            <a:pPr>
              <a:spcAft>
                <a:spcPts val="1500"/>
              </a:spcAft>
              <a:defRPr sz="1600">
                <a:solidFill>
                  <a:srgbClr val="868E96"/>
                </a:solidFill>
                <a:latin typeface="Arial"/>
              </a:defRPr>
            </a:pPr>
            <a:r>
              <a:t>Contraseñas encriptadas de forma segura y control de sesión del usuario mediante Tokens web.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98AD"/>
                </a:solidFill>
                <a:latin typeface="Arial"/>
              </a:defRPr>
            </a:pPr>
            <a:r>
              <a:t>Características de EncuentraMiMascota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500"/>
              </a:spcAft>
              <a:defRPr sz="1800">
                <a:solidFill>
                  <a:srgbClr val="868E96"/>
                </a:solidFill>
                <a:latin typeface="Arial"/>
              </a:defRPr>
            </a:pPr>
            <a:r>
              <a:t>• Registro de Anuncios: Nombre, Ubicación de extravío, Teléfono, Recompensa (en Bs.), Descripción detallada y subida de Foto real.</a:t>
            </a:r>
          </a:p>
          <a:p>
            <a:pPr>
              <a:spcAft>
                <a:spcPts val="1500"/>
              </a:spcAft>
              <a:defRPr sz="1800">
                <a:solidFill>
                  <a:srgbClr val="868E96"/>
                </a:solidFill>
                <a:latin typeface="Arial"/>
              </a:defRPr>
            </a:pPr>
            <a:r>
              <a:t>• Cambio de Estados: Los reportes cuentan con los estados 'Perdido' (color rojo) y 'Encontrado' (color verde) para un mejor control visual.</a:t>
            </a:r>
          </a:p>
          <a:p>
            <a:pPr>
              <a:spcAft>
                <a:spcPts val="1500"/>
              </a:spcAft>
              <a:defRPr sz="1800">
                <a:solidFill>
                  <a:srgbClr val="868E96"/>
                </a:solidFill>
                <a:latin typeface="Arial"/>
              </a:defRPr>
            </a:pPr>
            <a:r>
              <a:t>• Sección de Comentarios: Los usuarios con sesión iniciada pueden aportar pistas y debatir en los anuncios para cooperar.</a:t>
            </a:r>
          </a:p>
          <a:p>
            <a:pPr>
              <a:spcAft>
                <a:spcPts val="1500"/>
              </a:spcAft>
              <a:defRPr sz="1800">
                <a:solidFill>
                  <a:srgbClr val="868E96"/>
                </a:solidFill>
                <a:latin typeface="Arial"/>
              </a:defRPr>
            </a:pPr>
            <a:r>
              <a:t>• Buscador Inteligente: Entrada de búsqueda interactiva que filtra por nombre, zona o descripción en tiempo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98AD"/>
                </a:solidFill>
                <a:latin typeface="Arial"/>
              </a:defRPr>
            </a:pPr>
            <a:r>
              <a:t>Arquitectura y Control de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>
                <a:solidFill>
                  <a:srgbClr val="1098AD"/>
                </a:solidFill>
                <a:latin typeface="Arial"/>
              </a:defRPr>
            </a:pPr>
            <a:r>
              <a:t>Invitado (Sin inicio de sesión):</a:t>
            </a:r>
          </a:p>
          <a:p>
            <a:pPr>
              <a:spcAft>
                <a:spcPts val="1500"/>
              </a:spcAft>
              <a:defRPr sz="1600">
                <a:solidFill>
                  <a:srgbClr val="868E96"/>
                </a:solidFill>
                <a:latin typeface="Arial"/>
              </a:defRPr>
            </a:pPr>
            <a:r>
              <a:t>Puede entrar al portal, ver todos los anuncios de mascotas perdidas, utilizar el buscador y leer comentarios. Rol meramente observador.</a:t>
            </a:r>
          </a:p>
          <a:p>
            <a:pPr>
              <a:defRPr sz="1800" b="1">
                <a:solidFill>
                  <a:srgbClr val="1098AD"/>
                </a:solidFill>
                <a:latin typeface="Arial"/>
              </a:defRPr>
            </a:pPr>
            <a:r>
              <a:t>Usuario Registrado (Sesión activa):</a:t>
            </a:r>
          </a:p>
          <a:p>
            <a:pPr>
              <a:spcAft>
                <a:spcPts val="1500"/>
              </a:spcAft>
              <a:defRPr sz="1600">
                <a:solidFill>
                  <a:srgbClr val="868E96"/>
                </a:solidFill>
                <a:latin typeface="Arial"/>
              </a:defRPr>
            </a:pPr>
            <a:r>
              <a:t>Puede crear publicaciones de mascotas perdidas, marcarlas como encontradas o eliminarlas (solo sus propias publicaciones). Puede comentar en cualquier publicación.</a:t>
            </a:r>
          </a:p>
          <a:p>
            <a:pPr>
              <a:defRPr sz="1800" b="1">
                <a:solidFill>
                  <a:srgbClr val="1098AD"/>
                </a:solidFill>
                <a:latin typeface="Arial"/>
              </a:defRPr>
            </a:pPr>
            <a:r>
              <a:t>Administrador (Control Total):</a:t>
            </a:r>
          </a:p>
          <a:p>
            <a:pPr>
              <a:spcAft>
                <a:spcPts val="1500"/>
              </a:spcAft>
              <a:defRPr sz="1600">
                <a:solidFill>
                  <a:srgbClr val="868E96"/>
                </a:solidFill>
                <a:latin typeface="Arial"/>
              </a:defRPr>
            </a:pPr>
            <a:r>
              <a:t>Acceso al panel de administración protegido. Puede crear/editar/eliminar cualquier usuario registrado y tiene el poder de modificar o eliminar anuncios inapropiados de cualquier usuario.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98AD"/>
                </a:solidFill>
                <a:latin typeface="Arial"/>
              </a:defRPr>
            </a:pPr>
            <a:r>
              <a:t>Metodología y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12529"/>
                </a:solidFill>
                <a:latin typeface="Arial"/>
              </a:defRPr>
            </a:pPr>
            <a:r>
              <a:t>Metodología Aplicada:</a:t>
            </a:r>
          </a:p>
          <a:p>
            <a:pPr>
              <a:spcAft>
                <a:spcPts val="1500"/>
              </a:spcAft>
              <a:defRPr sz="1600">
                <a:solidFill>
                  <a:srgbClr val="868E96"/>
                </a:solidFill>
                <a:latin typeface="Arial"/>
              </a:defRPr>
            </a:pPr>
            <a:r>
              <a:t>• Investigación-Acción Participativa (IAP): Identificación directa de la necesidad, desarrollo de prototipo, y realización de encuestas y pruebas de usabilidad con vecinos locales.</a:t>
            </a:r>
          </a:p>
          <a:p>
            <a:pPr>
              <a:spcAft>
                <a:spcPts val="500"/>
              </a:spcAft>
              <a:defRPr sz="2000" b="1">
                <a:solidFill>
                  <a:srgbClr val="212529"/>
                </a:solidFill>
                <a:latin typeface="Arial"/>
              </a:defRPr>
            </a:pPr>
            <a:r>
              <a:t>Resultados Clave Obtenidos:</a:t>
            </a:r>
          </a:p>
          <a:p>
            <a:pPr>
              <a:spcAft>
                <a:spcPts val="1500"/>
              </a:spcAft>
              <a:defRPr sz="1600">
                <a:solidFill>
                  <a:srgbClr val="868E96"/>
                </a:solidFill>
                <a:latin typeface="Arial"/>
              </a:defRPr>
            </a:pPr>
            <a:r>
              <a:t>• Centralización efectiva: Los reportes están ordenados y no se pierden en hilos temporales.</a:t>
            </a:r>
            <a:br/>
            <a:r>
              <a:t>• Tiempos de carga mínimos: Gracias al uso de SQLite local y Node.js.</a:t>
            </a:r>
            <a:br/>
            <a:r>
              <a:t>• Interfaz responsiva probada con éxito en dispositivos móviles.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98AD"/>
                </a:solidFill>
                <a:latin typeface="Arial"/>
              </a:defRPr>
            </a:pPr>
            <a:r>
              <a:t>Recursos y Cálculo de Costos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>
                <a:solidFill>
                  <a:srgbClr val="FF922B"/>
                </a:solidFill>
                <a:latin typeface="Arial"/>
              </a:defRPr>
            </a:pPr>
            <a:r>
              <a:t>Recursos Materiales y Software:</a:t>
            </a:r>
          </a:p>
          <a:p>
            <a:pPr>
              <a:spcAft>
                <a:spcPts val="1500"/>
              </a:spcAft>
              <a:defRPr sz="1600">
                <a:solidFill>
                  <a:srgbClr val="868E96"/>
                </a:solidFill>
                <a:latin typeface="Arial"/>
              </a:defRPr>
            </a:pPr>
            <a:r>
              <a:t>Computadora portátil, Visual Studio Code, Git, Node.js y SQLite. Inversión inicial en software de desarrollo: 0 Bs. (Herramientas libres).</a:t>
            </a:r>
          </a:p>
          <a:p>
            <a:pPr>
              <a:defRPr sz="1800" b="1">
                <a:solidFill>
                  <a:srgbClr val="FF922B"/>
                </a:solidFill>
                <a:latin typeface="Arial"/>
              </a:defRPr>
            </a:pPr>
            <a:r>
              <a:t>Costos de Operación Estimados:</a:t>
            </a:r>
          </a:p>
          <a:p>
            <a:pPr>
              <a:spcAft>
                <a:spcPts val="1500"/>
              </a:spcAft>
              <a:defRPr sz="1600">
                <a:solidFill>
                  <a:srgbClr val="868E96"/>
                </a:solidFill>
                <a:latin typeface="Arial"/>
              </a:defRPr>
            </a:pPr>
            <a:r>
              <a:t>Energía eléctrica y conexión de banda ancha a internet: 170 Bs. mensuales. Plan gratuito de despliegue en la nube.</a:t>
            </a:r>
          </a:p>
          <a:p>
            <a:pPr>
              <a:defRPr sz="1800" b="1">
                <a:solidFill>
                  <a:srgbClr val="FF922B"/>
                </a:solidFill>
                <a:latin typeface="Arial"/>
              </a:defRPr>
            </a:pPr>
            <a:r>
              <a:t>Costo Estimado de Desarrollo (Mano de obra):</a:t>
            </a:r>
          </a:p>
          <a:p>
            <a:pPr>
              <a:spcAft>
                <a:spcPts val="1500"/>
              </a:spcAft>
              <a:defRPr sz="1600">
                <a:solidFill>
                  <a:srgbClr val="868E96"/>
                </a:solidFill>
                <a:latin typeface="Arial"/>
              </a:defRPr>
            </a:pPr>
            <a:r>
              <a:t>120 horas de programación valoradas en 20 Bs. / hora. Costo simulado del proyecto de desarrollo: 2,400 Bs.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98AD"/>
                </a:solidFill>
                <a:latin typeface="Arial"/>
              </a:defRPr>
            </a:pPr>
            <a:r>
              <a:t>Estrategia de Mejora y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12529"/>
                </a:solidFill>
                <a:latin typeface="Arial"/>
              </a:defRPr>
            </a:pPr>
            <a:r>
              <a:t>Estrategias de Mejora Futura:</a:t>
            </a:r>
          </a:p>
          <a:p>
            <a:pPr>
              <a:spcAft>
                <a:spcPts val="2000"/>
              </a:spcAft>
              <a:defRPr sz="1600">
                <a:solidFill>
                  <a:srgbClr val="868E96"/>
                </a:solidFill>
                <a:latin typeface="Arial"/>
              </a:defRPr>
            </a:pPr>
            <a:r>
              <a:t>1. Integración de Mapas Interactivos (API Leaflet/Google Maps).</a:t>
            </a:r>
            <a:br/>
            <a:r>
              <a:t>2. Notificaciones push al móvil convirtiendo la web en una PWA.</a:t>
            </a:r>
          </a:p>
          <a:p>
            <a:pPr>
              <a:defRPr sz="1800" b="1">
                <a:solidFill>
                  <a:srgbClr val="1098AD"/>
                </a:solidFill>
                <a:latin typeface="Arial"/>
              </a:defRPr>
            </a:pPr>
            <a:r>
              <a:t>Conclusiones de Grado:</a:t>
            </a:r>
          </a:p>
          <a:p>
            <a:pPr>
              <a:defRPr sz="1600">
                <a:solidFill>
                  <a:srgbClr val="868E96"/>
                </a:solidFill>
                <a:latin typeface="Arial"/>
              </a:defRPr>
            </a:pPr>
            <a:r>
              <a:t>• Se completaron todos los requisitos funcionales del proyecto bajo un enfoque ordenado y limpio.</a:t>
            </a:r>
            <a:br/>
            <a:r>
              <a:t>• El Bachillerato Técnico (BTH) nos habilita para diseñar e implementar software que resuelva problemas reales de la comunidad.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5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4400" b="1">
                <a:solidFill>
                  <a:srgbClr val="FFFFFF"/>
                </a:solidFill>
                <a:latin typeface="Arial"/>
              </a:defRPr>
            </a:pPr>
            <a:r>
              <a:t>Muchas Gracias por su Atención</a:t>
            </a:r>
          </a:p>
          <a:p>
            <a:pPr algn="ctr">
              <a:defRPr sz="2800" b="1">
                <a:solidFill>
                  <a:srgbClr val="FF922B"/>
                </a:solidFill>
                <a:latin typeface="Arial"/>
              </a:defRPr>
            </a:pPr>
            <a:r>
              <a:t>¿Preguntas del Tribunal Evaluador?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