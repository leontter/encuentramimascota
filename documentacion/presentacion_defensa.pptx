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31520"/>
            <a:ext cx="5669280" cy="329184"/>
          </a:xfrm>
          <a:prstGeom prst="rect">
            <a:avLst/>
          </a:prstGeom>
          <a:solidFill>
            <a:srgbClr val="1E293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74980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BACHILLERATO TÉCNICO HUMANÍSTICO • SISTEMAS INFORMÁTICOS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EncuentraMiMascota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Web Responsive para el Reporte y Búsqueda de Mascotas Perdidas mediante ByCoding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5120640" cy="2743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EQUIPO DE POSTULANTES: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97280" y="356616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Dietter Leon Justiniano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Desarrollo Full-Stack, Base de Datos y Pruebas Técnicas
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Yimmy Lijeron Mejias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Análisis de Requerimientos, Diseño UI/UX y Documentación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3017520"/>
            <a:ext cx="5120640" cy="2743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ASESORÍA DOCENTE Y UNIDAD EDUCATIVA: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92240" y="356616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Docente Tutor: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Lic. Ivanna Leminka López Sanabria
</a:t>
            </a:r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Docente de Especialidad: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Lic. Ana Gabriela Paz Arauz
</a:t>
            </a:r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Presidente Comité BTH: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Lic. Edwin Eliseo Huayllani Silvestre
</a:t>
            </a:r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Núcleo Educativo "Las Gamas" • Warnes, Santa Cruz |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256032"/>
            <a:ext cx="82296" cy="5303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01168"/>
            <a:ext cx="1005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Planteamiento del Problema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493776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280160"/>
            <a:ext cx="4864608" cy="6400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987552" y="1481328"/>
            <a:ext cx="44256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1.1. Diagnóstico de la Realidad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1874520"/>
            <a:ext cx="44805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Problemática en la Comunidad:
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Warnes y Santa Cruz, la pérdida de animales domésticos genera angustia familiar y falta de medios organizados para su búsqueda.
</a:t>
            </a:r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Canales Tradicionales Ineficientes:
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Afiches en postes perecederos ante el clima y de corto alcance.
• Redes sociales saturadas donde los reportes expiran en horas.
</a:t>
            </a:r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Datos de Encuesta Local (40 Familias):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4480560"/>
            <a:ext cx="2148840" cy="1463040"/>
          </a:xfrm>
          <a:prstGeom prst="rect">
            <a:avLst/>
          </a:prstGeom>
          <a:solidFill>
            <a:srgbClr val="E0F2FE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553712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51560" y="51206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 perdido una mascota en el último año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4480560"/>
            <a:ext cx="2148840" cy="14630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4553712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383280" y="51206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Afirma que redes sociales no son efectivas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0" y="128016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80176" y="1280160"/>
            <a:ext cx="5413248" cy="6400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8" name="Text 16"/>
          <p:cNvSpPr/>
          <p:nvPr/>
        </p:nvSpPr>
        <p:spPr>
          <a:xfrm>
            <a:off x="6199632" y="1481328"/>
            <a:ext cx="4974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1.2. Identificación del Problema (Matriz FODA)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172200" y="1920240"/>
            <a:ext cx="2423160" cy="196596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1993392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💪 FORTALEZAS (Internas)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Centraliza datos en un solo lugar.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Fotos reales, ubicación y recompensas.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Edición activa con vista previa.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Diseño responsive para celulares.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778240" y="1920240"/>
            <a:ext cx="2423160" cy="1965960"/>
          </a:xfrm>
          <a:prstGeom prst="rect">
            <a:avLst/>
          </a:prstGeom>
          <a:solidFill>
            <a:srgbClr val="E0F2FE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0" y="1993392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OPORTUNIDADES (Externas)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869680" y="224028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Adopción masiva comunitaria.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Ampliación a otros municipios.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Alianzas con veterinarias y albergues.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Integración futura con mapas GPS.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72200" y="4069080"/>
            <a:ext cx="2423160" cy="196596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4142232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DEBILIDADES (Internas)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263640" y="43891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Dependencia de conexión a internet.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Alcance inicial en fase de difusión.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Volumen depende del uso vecinal.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SQLite para escala comunitaria.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778240" y="4069080"/>
            <a:ext cx="2423160" cy="1965960"/>
          </a:xfrm>
          <a:prstGeom prst="rect">
            <a:avLst/>
          </a:prstGeom>
          <a:solidFill>
            <a:srgbClr val="FFE4E6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69680" y="4142232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🛑 AMENAZAS (Externas)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869680" y="43891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Publicaciones informales en Facebook.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Riesgo de publicaciones falsas.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Requerimiento de moderación activa.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Caídas temporales de hosting web.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256032"/>
            <a:ext cx="82296" cy="5303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01168"/>
            <a:ext cx="1005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1.3. Formulación y 1.4. Objetivos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069848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371600"/>
            <a:ext cx="10241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1.3. FORMULACIÓN DEL PROBLEMA (PREGUNTA GUÍA):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1627632"/>
            <a:ext cx="10241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“¿De qué manera el desarrollo e implementación de una plataforma web responsive de reporte y búsqueda de mascotas permitirá centralizar, organizar y gestionar de forma eficiente los avisos de animales extraviados en la comunidad, reduciendo los tiempos de búsqueda y optimizando la comunicación vecinal?”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2697480"/>
            <a:ext cx="51206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2697480"/>
            <a:ext cx="5047488" cy="6400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2898648"/>
            <a:ext cx="46085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1.4.1. Objetivo General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60120" y="3337560"/>
            <a:ext cx="46634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Desarrollar una plataforma web responsive de reporte y búsqueda de mascotas perdidas para nuestra comunidad, utilizando HTML5, CSS3, JavaScript Vanilla en el frontend y Node.js con base de datos relacional SQLite en el backend, que permita centralizar y gestionar de forma ágil y segura la información de los animales extraviados facilitando su reencuentro.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2697480"/>
            <a:ext cx="53035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2697480"/>
            <a:ext cx="5230368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6382512" y="2898648"/>
            <a:ext cx="4791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1.4.2. Objetivos Específicos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55080" y="329184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Diagnosticar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extravío de mascotas y medios utilizados mediante encuestas.
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Diseñar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base de datos y la interfaz gráfica responsive (UI/UX).
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Programar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registro, publicación, buscador en tiempo real y comentarios.
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Implementar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multimedia con Multer y limpieza física de archivos.
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Incorporar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con Bcrypt y JWT bajo 3 roles de acceso.
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Validar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 mediante pruebas de usabilidad con vecinos.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256032"/>
            <a:ext cx="82296" cy="5303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01168"/>
            <a:ext cx="1005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Planificación / 2.1. Cronograma de Actividades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61872"/>
          <a:ext cx="10698480" cy="5029200"/>
        </p:xfrm>
        <a:graphic>
          <a:graphicData uri="http://schemas.openxmlformats.org/drawingml/2006/table">
            <a:tbl>
              <a:tblPr/>
              <a:tblGrid>
                <a:gridCol w="4663440"/>
                <a:gridCol w="2103120"/>
                <a:gridCol w="3931920"/>
              </a:tblGrid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/ Actividad Desarrollada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Periodo (Meses)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 / Entregable Oficial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Identificación del problema y justificación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Enero – Febrero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Diagnóstico inicial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Revisión del perfil de trabajo con el tutor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Febrero – Marzo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 formalizado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Aplicación de encuestas a vecinos y diagnóstico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Marzo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estadísticos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Redacción del planteamiento del problema y objetivos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Abril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aprobado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Diseño de base de datos SQLite (db.js)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Esquema relacional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 Maquetación UI/UX responsive (HTML5/CSS3)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Vistas móviles listas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 Programación del backend (Node.js/Express)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REST operativa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 Autenticación con JWT y seguridad Bcrypt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Agosto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por roles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 Módulo multimedia, edición y cambio de fotos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Agosto – Septiembre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Multer y fs.unlinkSync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 Pruebas piloto de usabilidad con vecinos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Septiembre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en campo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 Corrección de observaciones y optimización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Octubre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 depurado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68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 Elaboración de monografía final y defensa BTH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Noviembre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Monografía completa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256032"/>
            <a:ext cx="82296" cy="5303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01168"/>
            <a:ext cx="1005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 Recursos del Proyecto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280160"/>
            <a:ext cx="3291840" cy="6400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987552" y="1481328"/>
            <a:ext cx="2852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2.2.1. Recursos Humanos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1874520"/>
            <a:ext cx="2907792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Estudiantes Postulantes:
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Dietter Leon Justiniano
  (Desarrollo Full-Stack y pruebas del sistema)
• Yimmy Lijeron Mejias
  (Análisis y diseño UI/UX de la página web)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Docentes Asesores BTH:
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Lic. Ivanna Leminka López Sanabria
  (Docente Tutor metodológico y técnico)
• Lic. Ana Gabriela Paz Arauz
  (Docente de Especialidad BTH)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 Participante:
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40 vecinos para encuestas.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 usuarios para pruebas de usabilidad.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8264" y="1280160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280160"/>
            <a:ext cx="3291840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4654296" y="1481328"/>
            <a:ext cx="2852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2.2.2. Recursos Materiales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26864" y="1874520"/>
            <a:ext cx="2907792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Utilizado:
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Computadora portátil (Laptop Intel Core i5, 8GB RAM).
• 1 Teléfono inteligente para pruebas de navegación móvil.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y Herramientas:
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Visual Studio Code (IDE de desarrollo).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Node.js runtime &amp; Express framework.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SQLite3 (Base de datos relacional).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 y GitHub (Control de versiones).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Navegador Google Chrome.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Paquete Microsoft Word para monografía.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5008" y="1280160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01584" y="1280160"/>
            <a:ext cx="3291840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481328"/>
            <a:ext cx="2852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2.2.3. Recursos Financieros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293608" y="1874520"/>
            <a:ext cx="2907792" cy="114300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93608" y="1938528"/>
            <a:ext cx="2907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Bs.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293608" y="2468880"/>
            <a:ext cx="29077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Inversión en Software de Desarrollo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93608" y="3200400"/>
            <a:ext cx="2907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Open Source:
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las tecnologías empleadas son de código abierto y libres de costo de licencias.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Autosostenibilidad:
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requirió financiamiento externo, asegurando costo cero para los vecinos de la comunidad.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256032"/>
            <a:ext cx="82296" cy="5303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01168"/>
            <a:ext cx="1005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2.3. Cálculo de Costos del Proyecto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21208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280160"/>
            <a:ext cx="5138928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987552" y="1481328"/>
            <a:ext cx="4700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2.3.1. Costo de Inversión (Gasto Inicial)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192024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Licencias de software (VS Code, Node.js, SQLite): </a:t>
            </a:r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Bs. (Gratis)
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Equipo portátil preexistente (Amortizado): 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Bs. (Recurso propio)
</a:t>
            </a:r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INVERSIÓN MATERIAL DIRECTA: </a:t>
            </a:r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Bs. (Autosostenible)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21208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54496" y="1280160"/>
            <a:ext cx="5138928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481328"/>
            <a:ext cx="4700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2.3.2. Costo de Operación (Mensual)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46520" y="192024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Consumo de energía eléctrica: 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Bs. / mes
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Conexión a internet ilimitado banda ancha: 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Bs. / mes
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Servidor web en la nube (Plan libre): </a:t>
            </a:r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Bs.
</a:t>
            </a:r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COSTO OPERACIÓN MENSUAL: </a:t>
            </a:r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Bs. / mes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886200"/>
            <a:ext cx="521208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86200"/>
            <a:ext cx="5138928" cy="6400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6" name="Text 14"/>
          <p:cNvSpPr/>
          <p:nvPr/>
        </p:nvSpPr>
        <p:spPr>
          <a:xfrm>
            <a:off x="987552" y="4087368"/>
            <a:ext cx="4700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2.3.3. Costos Variables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60120" y="45262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Materiales de impresión y encuadernación: 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Bs.
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Publicidad digital en redes sociales (Opcional): 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Bs.
</a:t>
            </a:r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COSTOS VARIABLES: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 Bs. (Flexibles)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886200"/>
            <a:ext cx="521208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4496" y="3886200"/>
            <a:ext cx="5138928" cy="6400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0" name="Text 18"/>
          <p:cNvSpPr/>
          <p:nvPr/>
        </p:nvSpPr>
        <p:spPr>
          <a:xfrm>
            <a:off x="6473952" y="4087368"/>
            <a:ext cx="4700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2.3.4. Costos Fijos (Mano de Obra)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46520" y="45262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Estimación de tiempo técnico invertido: 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Horas
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Valor hora de desarrollador junior (Simulado): 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Bs. / hora
</a:t>
            </a:r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SIMULADO DE DESARROLLO: </a:t>
            </a:r>
            <a:pPr indent="0" marL="0">
              <a:buNone/>
            </a:pPr>
            <a:r>
              <a:rPr lang="en-US" sz="15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 Bs.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256032"/>
            <a:ext cx="82296" cy="5303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01168"/>
            <a:ext cx="1005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DEMOSTRACIÓN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¿Cómo Funciona? - Arquitectura y Roles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1069848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325880"/>
            <a:ext cx="10241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CLIENTE-SERVIDOR DESACOPLADA (FULL-STACK):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60120" y="157276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nativo (HTML5 / CSS3 / JS)  ⟷  API REST segura (JSON / Multipart)  ⟷  Servidor Node.js + Express  ⟷  Base de Datos SQLite3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377440"/>
            <a:ext cx="3364992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2377440"/>
            <a:ext cx="3291840" cy="6400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2578608"/>
            <a:ext cx="2852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Rol Invitado (Público)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60120" y="2971800"/>
            <a:ext cx="290779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Directo sin Registro:
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Explora el catálogo de mascotas perdidas y encontradas.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Utiliza el buscador en tiempo real por zona o nombre.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Visualiza teléfonos de contacto directo para avisar a familias.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Lee comentarios y pistas de la comunidad.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98264" y="2377440"/>
            <a:ext cx="3364992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2377440"/>
            <a:ext cx="3291840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4654296" y="2578608"/>
            <a:ext cx="2852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🐾 Usuario Registrado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26864" y="2971800"/>
            <a:ext cx="290779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Publicación y Colaboración:
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Registro seguro con token JWT y clave encriptada.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Publica reportes con foto real, zona y recompensa.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Edita sus publicaciones y cambia fotos en vivo.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Alterna estado a "Encontrado" (insignia verde).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Comenta y aporta pistas en otros anuncios.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65008" y="2377440"/>
            <a:ext cx="3364992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01584" y="2377440"/>
            <a:ext cx="3291840" cy="6400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9" name="Text 17"/>
          <p:cNvSpPr/>
          <p:nvPr/>
        </p:nvSpPr>
        <p:spPr>
          <a:xfrm>
            <a:off x="8321040" y="2578608"/>
            <a:ext cx="2852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Administrador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293608" y="2971800"/>
            <a:ext cx="290779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Total y Moderación:
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Panel de administración protegido con rol admin.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Gestión completa (CRUD) de usuarios del sistema.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Modifica cualquier publicación con errores de datos.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Elimina anuncios falsos o inapropiados para proteger la veracidad del sitio.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256032"/>
            <a:ext cx="82296" cy="5303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01168"/>
            <a:ext cx="1005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DEMOSTRACIÓN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¿Cómo Funciona? - Innovaciones Técnicas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21208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280160"/>
            <a:ext cx="5138928" cy="6400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987552" y="1481328"/>
            <a:ext cx="4700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Buscador Inteligente con Debounce (300 ms)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192024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Filtrado Instantáneo: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 mascotas por nombre, zona o descripción sin recargar la página.
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Técnica Debounce: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300ms tras teclear antes de consultar a la API, reduciendo la carga del servidor en un 70%.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21208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54496" y="1280160"/>
            <a:ext cx="5138928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481328"/>
            <a:ext cx="4700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📸 Edición Activa y Limpieza en Servidor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46520" y="192024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Previsualización en Vivo: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la API FileReader para verificar la imagen antes de subirla.
</a:t>
            </a:r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Limpieza de Disco (fs.unlinkSync):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cambiar de foto o borrar un anuncio, se elimina físicamente la imagen anterior para no saturar el disco.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3886200"/>
            <a:ext cx="521208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86200"/>
            <a:ext cx="5138928" cy="640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987552" y="4087368"/>
            <a:ext cx="4700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Seguridad Criptográfica (Bcrypt + JWT)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60120" y="45262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Hashing de Contraseñas: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rondas de salting con Bcrypt para proteger las claves.
</a:t>
            </a:r>
            <a:pPr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Tokens Web JSON (JWT):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sin estado firmadas digitalmente con 24 horas de vigencia y control estricto de roles.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3886200"/>
            <a:ext cx="521208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4496" y="3886200"/>
            <a:ext cx="5138928" cy="6400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0" name="Text 18"/>
          <p:cNvSpPr/>
          <p:nvPr/>
        </p:nvSpPr>
        <p:spPr>
          <a:xfrm>
            <a:off x="6473952" y="4087368"/>
            <a:ext cx="4700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🗄️ Base de Datos Relacional (SQLite3)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46520" y="45262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Integridad Referencial: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ON DELETE CASCADE para evitar datos huérfanos.
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Consultas Parametrizadas: </a:t>
            </a:r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Statements con marcadores (?) que bloquean el 100% de ataques SQL Injection.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256032"/>
            <a:ext cx="82296" cy="5303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01168"/>
            <a:ext cx="1005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y Proyección Futura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280160"/>
            <a:ext cx="5047488" cy="6400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987552" y="1481328"/>
            <a:ext cx="46085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del Proyecto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1874520"/>
            <a:ext cx="46634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Cumplimiento Total de Objetivos:
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logró una plataforma web completa, rápida (&lt;100ms) y 100% adaptada a celulares y computadoras.
</a:t>
            </a:r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Impacto Social Positivo:
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Centraliza la búsqueda de mascotas en la comunidad, reduciendo la angustia familiar y fomentando la cooperación vecinal.
</a:t>
            </a:r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Formación Técnica BTH:
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Demuestra las competencias adquiridas en Sistemas Informáticos para crear software profesional a costo cero.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280160"/>
            <a:ext cx="53035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63056" y="1280160"/>
            <a:ext cx="5230368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6382512" y="1481328"/>
            <a:ext cx="4791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de Mejora y Proyección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55080" y="1874520"/>
            <a:ext cx="48463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Mejoras a Corto Plazo:
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Integración de mapas interactivos con geolocalización (Leaflet / Google Maps API) para ubicar el sitio exacto de extravío.
• Filtros avanzados por especie (perro, gato, ave) y color.
</a:t>
            </a:r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a Mediano y Largo Plazo:
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Transformar la web en una Progressive Web App (PWA) instalable directamente en Android e iOS.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Sistema de notificaciones push automáticas cuando se reporte una mascota perdida en el barrio del usuario.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¡Muchas Gracias por su Atención!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261104" y="2651760"/>
            <a:ext cx="365760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9260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 del Tribunal Evaluador?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36015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Postulantes: 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Dietter Leon Justiniano   |   Yimmy Lijeron Mejias
</a:t>
            </a:r>
            <a:pPr algn="ctr"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Especialidad: </a:t>
            </a:r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Informáticos — BTH Núcleo Las Gamas
</a:t>
            </a:r>
            <a:pPr algn="ctr"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Warnes – Santa Cruz – Bolivia | Gestión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2026-10-05T14:37:44Z</dcterms:created>
  <dcterms:modified xsi:type="dcterms:W3CDTF">2026-10-05T14:37:44Z</dcterms:modified>
</cp:coreProperties>
</file>