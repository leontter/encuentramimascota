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5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31520"/>
            <a:ext cx="2286000" cy="73152"/>
          </a:xfrm>
          <a:prstGeom prst="rect">
            <a:avLst/>
          </a:prstGeom>
          <a:solidFill>
            <a:srgbClr val="FF922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058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BACHILLERATO TÉCNICO HUMANÍSTICO (BTH) - SISTEMAS INFORMÁTICOS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EDUCATIVO "LAS GAMAS"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EncuentraMiMascota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98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Web Responsive para el Reporte y Búsqueda de Mascotas Perdidas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3657600"/>
            <a:ext cx="10332720" cy="2377440"/>
          </a:xfrm>
          <a:prstGeom prst="rect">
            <a:avLst/>
          </a:prstGeom>
          <a:solidFill>
            <a:srgbClr val="2B3035"/>
          </a:solidFill>
          <a:ln w="12700">
            <a:solidFill>
              <a:srgbClr val="343A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79476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POSTULANTES:
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Leon Justiniano
• Yimmy Lijeron Mejia
</a:t>
            </a:r>
            <a:pPr algn="l" indent="0" marL="0">
              <a:buNone/>
            </a:pPr>
            <a:r>
              <a:rPr lang="en-US" sz="13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 TUTOR: </a:t>
            </a:r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Lic. Ronald Silver Quino Torrez
</a:t>
            </a:r>
            <a:pPr algn="l" indent="0" marL="0">
              <a:buNone/>
            </a:pPr>
            <a:r>
              <a:rPr lang="en-US" sz="13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 DE ESPECIALIDAD: </a:t>
            </a:r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Lic. Ana Gabriela Paz Arauz
</a:t>
            </a:r>
            <a:pPr algn="l" indent="0" marL="0">
              <a:buNone/>
            </a:pPr>
            <a:r>
              <a:rPr lang="en-US" sz="13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PRESIDENTE DE COMITÉ BTH: </a:t>
            </a:r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Lic. Edwin Eliseo Huayllani Silvestre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1005840"/>
          </a:xfrm>
          <a:prstGeom prst="rect">
            <a:avLst/>
          </a:prstGeom>
          <a:solidFill>
            <a:srgbClr val="1098A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Planteamiento del Problema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21208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63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1.1. Diagnóstico y Descripción de la Realidad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1874520"/>
            <a:ext cx="475488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Realidad Comunitaria:
</a:t>
            </a:r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extravío de animales domésticos en nuestro entorno urbano genera alta angustia y desmovilización familiar.
</a:t>
            </a:r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Métodos Tradicionales Ineficaces:
</a:t>
            </a:r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Afiches impresos en postes que se destruyen con la lluvia y tienen bajo alcance.
• Publicaciones en grupos de Facebook/WhatsApp que se pierden en horas sin posibilidad de filtrado.
</a:t>
            </a:r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Datos de Encuesta Local (40 vecinos):
</a:t>
            </a:r>
            <a:pPr algn="l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65% sufrió la pérdida de una mascota en el último año.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80% considera ineficiente buscar en redes sociales genéricas.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21208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463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1.2. Identificación del Problema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1874520"/>
            <a:ext cx="475488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A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Central Detectado:
</a:t>
            </a:r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dispersión, desorganización y caducidad inmediata de la información sobre mascotas perdidas en la comunidad.
</a:t>
            </a:r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Principales:
</a:t>
            </a:r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Ausencia de un portal web centralizado y especializado.
• Falta de filtros de búsqueda por zona o estado de la mascota.
• Pérdida de tiempo crítico en las primeras 48 horas de extravío.
</a:t>
            </a:r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Efectos Directos:
</a:t>
            </a:r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Baja tasa de reencuentro de mascotas con sus dueños.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Desesperación familiar y proliferación de animales en situación de calle.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1005840"/>
          </a:xfrm>
          <a:prstGeom prst="rect">
            <a:avLst/>
          </a:prstGeom>
          <a:solidFill>
            <a:srgbClr val="1098A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1.3. Formulación y 1.4. Objetivos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1069848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FF92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258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1.3. FORMULACIÓN DEL PROBLEMA (PREGUNTA GUÍA):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¿De qué manera el desarrollo de una aplicación web responsive basada en una arquitectura cliente-servidor y base de datos relacional puede optimizar el tiempo de búsqueda, reporte y actualización de anuncios de mascotas perdidas en nuestra comunidad?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697480"/>
            <a:ext cx="52120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1.4.1. Objetivo General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291840"/>
            <a:ext cx="475488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Desarrollar una aplicación web responsive utilizando HTML5, CSS3, JavaScript Vanilla en el frontend y Node.js con SQLite en el backend, que permita reportar, buscar, comentar y actualizar publicaciones y fotografías de mascotas perdidas bajo un sistema controlado de roles de usuario, facilitando el reencuentro de animales domésticos en la comunidad.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697480"/>
            <a:ext cx="52120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1.4.2. Objetivos Específicos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3291840"/>
            <a:ext cx="475488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Diagnosticar </a:t>
            </a:r>
            <a:pPr algn="l" indent="0" marL="0">
              <a:spcAft>
                <a:spcPts val="2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necesidades de la comunidad mediante encuestas de campo.
</a:t>
            </a:r>
            <a:pPr algn="l" indent="0" marL="0">
              <a:spcAft>
                <a:spcPts val="200"/>
              </a:spcAft>
              <a:buNone/>
            </a:pPr>
            <a:r>
              <a:rPr lang="en-US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Diseñar </a:t>
            </a:r>
            <a:pPr algn="l" indent="0" marL="0">
              <a:spcAft>
                <a:spcPts val="2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interfaz intuitiva y adaptada a móviles (UI/UX).
</a:t>
            </a:r>
            <a:pPr algn="l" indent="0" marL="0">
              <a:spcAft>
                <a:spcPts val="200"/>
              </a:spcAft>
              <a:buNone/>
            </a:pPr>
            <a:r>
              <a:rPr lang="en-US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Programar </a:t>
            </a:r>
            <a:pPr algn="l" indent="0" marL="0">
              <a:spcAft>
                <a:spcPts val="2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API REST segura en Node.js/Express y base de datos SQLite.
</a:t>
            </a:r>
            <a:pPr algn="l" indent="0" marL="0">
              <a:spcAft>
                <a:spcPts val="200"/>
              </a:spcAft>
              <a:buNone/>
            </a:pPr>
            <a:r>
              <a:rPr lang="en-US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Implementar </a:t>
            </a:r>
            <a:pPr algn="l" indent="0" marL="0">
              <a:spcAft>
                <a:spcPts val="2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autenticación con tokens JWT y claves encriptadas en Bcrypt.
</a:t>
            </a:r>
            <a:pPr algn="l" indent="0" marL="0">
              <a:spcAft>
                <a:spcPts val="200"/>
              </a:spcAft>
              <a:buNone/>
            </a:pPr>
            <a:r>
              <a:rPr lang="en-US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Desarrollar </a:t>
            </a:r>
            <a:pPr algn="l" indent="0" marL="0">
              <a:spcAft>
                <a:spcPts val="2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edición activa de anuncios, fotos (FileReader) y limpieza de disco.
</a:t>
            </a:r>
            <a:pPr algn="l" indent="0" marL="0">
              <a:spcAft>
                <a:spcPts val="200"/>
              </a:spcAft>
              <a:buNone/>
            </a:pPr>
            <a:r>
              <a:rPr lang="en-US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Validar </a:t>
            </a:r>
            <a:pPr algn="l" indent="0" marL="0">
              <a:spcAft>
                <a:spcPts val="2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funcionamiento mediante pruebas piloto de usabilidad.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1005840"/>
          </a:xfrm>
          <a:prstGeom prst="rect">
            <a:avLst/>
          </a:prstGeom>
          <a:solidFill>
            <a:srgbClr val="1098A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Planificación / 2.1. Cronograma de Actividades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10698480" cy="5029200"/>
        </p:xfrm>
        <a:graphic>
          <a:graphicData uri="http://schemas.openxmlformats.org/drawingml/2006/table">
            <a:tbl>
              <a:tblPr/>
              <a:tblGrid>
                <a:gridCol w="5029200"/>
                <a:gridCol w="228600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/ Actividad Desarrollada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98A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Estimado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98A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 Obtenido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98A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Reunión inicial con el tutor y definición del tema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 formalizado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Diagnóstico de la realidad y encuestas a vecinos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2 –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estadísticos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Planteamiento del problema y redacción de objetivos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definido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Modelado y diseño de base de datos SQLite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5 – 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Esquema relacional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Maquetación de interfaz gráfica responsive (HTML/CSS)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Vistas móviles listas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Programación del backend (Node.js, Express, Multer)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8 – 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REST operativa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 Autenticación segura con JWT y encriptación Bcrypt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Seguridad y roles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 Edición de anuncios, cambio de foto y limpieza de disco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11 – 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multimedia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 Pruebas piloto de usabilidad y corrección de errores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13 – 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 validado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 Elaboración del documento final y presentación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 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Monografía completa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1005840"/>
          </a:xfrm>
          <a:prstGeom prst="rect">
            <a:avLst/>
          </a:prstGeom>
          <a:solidFill>
            <a:srgbClr val="1098A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 Recursos del Proyecto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338328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2.2.1. Recursos Humanos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1874520"/>
            <a:ext cx="292608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Postulante:
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Leon Justiniano
  (Desarrollo Full-Stack y pruebas)
• Yimmy Lijeron Mejia
  (Diseño UI/UX y documentación)
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Docentes Guía:
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Lic. Ronald Silver Quino Torrez
  (Docente Tutor metodológico)
• Lic. Ana Gabriela Paz Arauz
  (Docente de Especialidad BTH)
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Participación Comunitaria:
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40 vecinos encuestados.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 usuarios para pruebas piloto.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280160"/>
            <a:ext cx="338328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2.2.2. Recursos Materiales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1874520"/>
            <a:ext cx="292608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Utilizado:
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Computadora Portátil (Laptop Intel Core i5, 8GB RAM).
• 1 Teléfono Móvil Android para pruebas de navegación responsive.
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y Herramientas:
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Visual Studio Code (IDE).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runtime &amp; Express.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SQLite3 (Base de datos local).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y GitHub (Control de versiones).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Navegador Google Chrome.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Paquete ofimático Microsoft Word.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280160"/>
            <a:ext cx="338328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532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2.2.3. Recursos Financieros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75320" y="1874520"/>
            <a:ext cx="292608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Inversión en Software:
</a:t>
            </a:r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B8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Bs. (Cero Bolivianos)
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las herramientas de desarrollo y librerías utilizadas son de código abierto (Open Source) y de uso libre.
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Financiamiento Externo:
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requirió financiamiento externo ni patrocinio comercial.
</a:t>
            </a:r>
            <a:pPr algn="l" indent="0" marL="0">
              <a:spcAft>
                <a:spcPts val="800"/>
              </a:spcAft>
              <a:buNone/>
            </a:pPr>
            <a:r>
              <a:rPr lang="en-US" sz="1200" i="1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costos operativos fueron absorbidos por recursos propios domiciliarios.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1005840"/>
          </a:xfrm>
          <a:prstGeom prst="rect">
            <a:avLst/>
          </a:prstGeom>
          <a:solidFill>
            <a:srgbClr val="1098A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2.3. Cálculo de Costos del Proyecto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21208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63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2.3.1. Costo de Inversión (Gasto Inicial)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1874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Licencias de Software (VS Code, Node.js, SQLite):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B8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Bs.
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Equipo de Computación (Laptop amortizada):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Bs. (Recurso propio)
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COSTO DE INVERSIÓN: </a:t>
            </a:r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B8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Bs. (Autosostenible)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21208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463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2.3.2. Costo de Operación (Mensual)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1874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Consumo de energía eléctrica: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Bs. / mes
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Conexión a internet banda ancha: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Bs. / mes
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Servidor web en la nube (Plan libre):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B8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Bs.
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COSTO DE OPERACIÓN: </a:t>
            </a:r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Bs. / mes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886200"/>
            <a:ext cx="521208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0690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2.3.3. Costos Variables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448056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Difusión digital local en redes sociales (Opcional):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Bs.
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Materiales de oficina e impresiones de prueba: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Bs.
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COSTOS VARIABLES: </a:t>
            </a:r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Bs. (Flexibles)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886200"/>
            <a:ext cx="521208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40690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2.3.4. Costos Fijos (Mano de Obra)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448056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Estimación de horas de trabajo: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Horas
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Valor hora programador junior (simulado):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Bs. / hora
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SIMULADO DE DESARROLLO: </a:t>
            </a:r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 Bs.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1005840"/>
          </a:xfrm>
          <a:prstGeom prst="rect">
            <a:avLst/>
          </a:prstGeom>
          <a:solidFill>
            <a:srgbClr val="1098A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¿Cómo Funciona? - Arquitectura y Flujo de Roles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338328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Rol Invitado (Público)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1874520"/>
            <a:ext cx="292608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Inmediato sin Registro:
</a:t>
            </a:r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Navega por todas las publicaciones de mascotas perdidas y encontradas.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Utiliza el buscador interactivo para filtrar por zona o nombre en tiempo real.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Lee comentarios y pistas aportadas por la comunidad.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Visualiza teléfonos de contacto directo para avisar a los dueños.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280160"/>
            <a:ext cx="338328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🐾 Rol Usuario Registrado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1874520"/>
            <a:ext cx="292608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Publicación:
</a:t>
            </a:r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Registro seguro con contraseña encriptada y Token JWT.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Publica reportes con fotografía real, ubicación y recompensa.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Edita sus publicaciones y reemplaza la foto con vista previa en vivo.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Alterna estado entre "Perdido" y "Encontrado".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Comenta en los anuncios de otros vecinos.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280160"/>
            <a:ext cx="338328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532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Rol Administrador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75320" y="1874520"/>
            <a:ext cx="292608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y Moderación Total:
</a:t>
            </a:r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Panel de administración protegido exclusivamente para moderadores.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Gestión completa (CRUD) de usuarios del sistema.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Poder para modificar cualquier anuncio con errores.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Elimina publicaciones falsas o inapropiadas para proteger la veracidad del sitio.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1005840"/>
          </a:xfrm>
          <a:prstGeom prst="rect">
            <a:avLst/>
          </a:prstGeom>
          <a:solidFill>
            <a:srgbClr val="1098A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¿Cómo Funciona? - Innovaciones Técnicas Destacadas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21208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63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Buscador Inteligente con Debounce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1874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Filtrado Instantáneo: </a:t>
            </a:r>
            <a:pPr algn="l" indent="0" marL="0">
              <a:spcAft>
                <a:spcPts val="8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 por nombre de mascota, zona o descripción sin recargar la página.
</a:t>
            </a:r>
            <a:pPr algn="l" indent="0" marL="0">
              <a:spcAft>
                <a:spcPts val="800"/>
              </a:spcAft>
              <a:buNone/>
            </a:pPr>
            <a:r>
              <a:rPr lang="en-US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Técnica de Debounce (300 ms): </a:t>
            </a:r>
            <a:pPr algn="l" indent="0" marL="0">
              <a:spcAft>
                <a:spcPts val="8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 saturar el servidor con peticiones innecesarias mientras el usuario escribe.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21208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463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📸 Edición Activa y Cambio de Fotos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1874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Previsualización en Tiempo Real: </a:t>
            </a:r>
            <a:pPr algn="l" indent="0" marL="0">
              <a:spcAft>
                <a:spcPts val="8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la API FileReader para verificar la imagen antes de subirla.
</a:t>
            </a:r>
            <a:pPr algn="l" indent="0" marL="0">
              <a:spcAft>
                <a:spcPts val="800"/>
              </a:spcAft>
              <a:buNone/>
            </a:pPr>
            <a:r>
              <a:rPr lang="en-US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Limpieza de Servidor (fs.unlinkSync): </a:t>
            </a:r>
            <a:pPr algn="l" indent="0" marL="0">
              <a:spcAft>
                <a:spcPts val="8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cambiar de foto o borrar un anuncio, se elimina físicamente la imagen anterior para no llenar el disco.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731520" y="3886200"/>
            <a:ext cx="521208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0690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Seguridad Criptográfica y Roles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448056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Hashing de Contraseñas: </a:t>
            </a:r>
            <a:pPr algn="l" indent="0" marL="0">
              <a:spcAft>
                <a:spcPts val="8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rondas de salting con Bcrypt para proteger las claves.
</a:t>
            </a:r>
            <a:pPr algn="l" indent="0" marL="0">
              <a:spcAft>
                <a:spcPts val="800"/>
              </a:spcAft>
              <a:buNone/>
            </a:pPr>
            <a:r>
              <a:rPr lang="en-US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Sesiones con JWT: </a:t>
            </a:r>
            <a:pPr algn="l" indent="0" marL="0">
              <a:spcAft>
                <a:spcPts val="8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web firmados con vigencia de 24 horas y control estricto de permisos.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217920" y="3886200"/>
            <a:ext cx="521208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40690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 Base de Datos Relacional (SQLite3)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448056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Integridad Referencial: </a:t>
            </a:r>
            <a:pPr algn="l" indent="0" marL="0">
              <a:spcAft>
                <a:spcPts val="8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ON DELETE CASCADE para evitar datos huérfanos.
</a:t>
            </a:r>
            <a:pPr algn="l" indent="0" marL="0">
              <a:spcAft>
                <a:spcPts val="800"/>
              </a:spcAft>
              <a:buNone/>
            </a:pPr>
            <a:r>
              <a:rPr lang="en-US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Consultas Preparadas: </a:t>
            </a:r>
            <a:pPr algn="l" indent="0" marL="0">
              <a:spcAft>
                <a:spcPts val="800"/>
              </a:spcAft>
              <a:buNone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parametrizadas que previenen el 100% de ataques de inyección SQL.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1005840"/>
          </a:xfrm>
          <a:prstGeom prst="rect">
            <a:avLst/>
          </a:prstGeom>
          <a:solidFill>
            <a:srgbClr val="1098A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y Proyección Futura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21208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63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del Proyecto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1874520"/>
            <a:ext cx="475488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Cumplimiento Total de Objetivos:
</a:t>
            </a:r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logró desarrollar una solución web completa, rápida (&lt;100ms) y 100% responsiva para celulares y computadoras.
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Impacto Social Solidario:
</a:t>
            </a:r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plataforma democratiza y centraliza la búsqueda de mascotas, reduciendo la angustia familiar y fortaleciendo la cooperación vecinal.
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Formación Técnica BTH:
</a:t>
            </a:r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Demuestra las capacidades prácticas adquiridas en Sistemas Informáticos para crear software de nivel profesional a costo cero.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21208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E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463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de Mejora y Proyección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1874520"/>
            <a:ext cx="475488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Mejoras a Corto Plazo:
</a:t>
            </a:r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Integración de mapas interactivos con geolocalización (Leaflet / Google Maps API) para colocar pines exactos de avistamiento.
• Filtros avanzados por especie (perro, gato, ave) y color.
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a Mediano y Largo Plazo:
</a:t>
            </a:r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Transformar la web en una Progressive Web App (PWA) instalable directamente en Android e iOS.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Implementar notificaciones push automáticas cuando se reporte una mascota perdida en el barrio del usuario.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5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¡Muchas Gracias por su Atención!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261104" y="2651760"/>
            <a:ext cx="3657600" cy="73152"/>
          </a:xfrm>
          <a:prstGeom prst="rect">
            <a:avLst/>
          </a:prstGeom>
          <a:solidFill>
            <a:srgbClr val="FF922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9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 del Tribunal Evaluador?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Postulantes: 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 Justiniano  |  Yimmy Lijeron Mejia
</a:t>
            </a:r>
            <a:pPr algn="ctr" indent="0" marL="0">
              <a:buNone/>
            </a:pPr>
            <a:r>
              <a:rPr lang="en-US" sz="140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Especialidad: </a:t>
            </a:r>
            <a:pPr algn="ctr" indent="0" marL="0">
              <a:buNone/>
            </a:pPr>
            <a:r>
              <a:rPr lang="en-US" sz="1400" dirty="0">
                <a:solidFill>
                  <a:srgbClr val="1098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Informáticos — BTH Las Gamas
</a:t>
            </a:r>
            <a:pPr algn="ctr" indent="0" marL="0">
              <a:buNone/>
            </a:pPr>
            <a:r>
              <a:rPr lang="en-US" sz="1300" i="1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Warnes – Santa Cruz – Bolivia | Gestión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2026-09-30T20:55:21Z</dcterms:created>
  <dcterms:modified xsi:type="dcterms:W3CDTF">2026-09-30T20:55:21Z</dcterms:modified>
</cp:coreProperties>
</file>